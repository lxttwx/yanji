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notesSlides/notesSlide1.xml" Type="http://schemas.openxmlformats.org/officeDocument/2006/relationships/notesSlide"/><Relationship Id="rId39" Target="notesSlides/notesSlide2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3.xml" Type="http://schemas.openxmlformats.org/officeDocument/2006/relationships/notesSlide"/><Relationship Id="rId61" Target="notesSlides/notesSlide24.xml" Type="http://schemas.openxmlformats.org/officeDocument/2006/relationships/notesSlide"/><Relationship Id="rId62" Target="notesSlides/notesSlide25.xml" Type="http://schemas.openxmlformats.org/officeDocument/2006/relationships/notesSlide"/><Relationship Id="rId63" Target="notesSlides/notesSlide26.xml" Type="http://schemas.openxmlformats.org/officeDocument/2006/relationships/notesSlide"/><Relationship Id="rId64" Target="notesSlides/notesSlide27.xml" Type="http://schemas.openxmlformats.org/officeDocument/2006/relationships/notesSlide"/><Relationship Id="rId65" Target="notesSlides/notesSlide28.xml" Type="http://schemas.openxmlformats.org/officeDocument/2006/relationships/notesSlide"/><Relationship Id="rId66" Target="notesSlides/notesSlide29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各位好，今天为大家介绍一款充满温度的家庭健康管理产品——“家檐安记”。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正如我们的Slogan所说：“让自律有陪伴，让牵挂有回音。”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这不仅仅是一个冷冰冰的健康APP，更是连接亲情的纽带。它一方面帮助年轻人进行科学的健身与自我管理，另一方面，也让远方的子女能够实时关注到长辈的健康状况，实现远程守护。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在这里，健康管理不再是枯燥的数字打卡，而是充满温情的互动与关怀。接下来，让我们一起走进“家檐安记”的世界。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各位好，这一页我们来概览一下产品的四大核心优势。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首先是“零运维架构”，我们采用了先进的Serverless技术，这意味着您不需要投入人力去维护后端服务器，系统可以自动弹性伸缩，极大地降低了运维成本和潜在的技术风险。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其次是“三端协同”，我们做到了Web端、iOS端和Android端的全覆盖，数据实时同步，无论您在办公室还是外出，都能无缝处理业务。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第三点是我们非常重视的“数据本地留存”，我们支持100%的数据本地化部署，这对于对数据安全有极高要求的企业来说至关重要，确保数据不出域，保障数据主权。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最后是“金融级加密”，我们采用了国际标准的AES-256加密算法，特别是在数据导出环节，确保了数据在传输和存储过程中的绝对安全。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这四点构成了我们产品坚实的技术底座和安全保障。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这一页我们来看看产品的“健身打卡”核心功能。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的界面展示，我们的打卡流程非常简单直观。用户完成运动后，会收到“打卡成功”的正向反馈，这能有效提升用户的成就感。界面上清晰展示了本周的打卡进度，以及今天完成的具体项目，比如肩颈放松和肩部环绕，每一项都有明确的完成状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此外，我们非常注重数据的可视化，比如连续打卡的天数和体重的变化，这些都是用户非常关心的核心指标。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在右侧，我总结了这个功能的三大亮点：首先是智能识别，省去了手动记录的麻烦；其次是多维的数据追踪，帮助用户科学复盘；最后是通过徽章和排行榜带来的趣味激励，让坚持运动变得更容易。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这一页我们来看看“守护模式”。这是一个专门为关爱家人健康而设计的功能。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的界面，这是家人健康概览的核心页面。我们可以看到，这里清晰地展示了父母的健康状态。比如母亲的卡片上，系统会自动标记“需关注”的状态，并给出具体的健康建议，比如“减少盐分摄入”。而对于父亲，系统不仅展示了基础的血压心率数据，还贴心地加入了“服药打卡”功能，早中晚的服药情况一目了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这个模式有四个核心亮点：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第一是实时体征追踪，7x24小时的监测让异常情况无处遁形；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第二是智能服药管家，解决了长辈健忘漏服药的问题；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第三是隐私安全护盾，我们特别设计了模糊展示机制，保护家人的隐私；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最后是全家健康总览，让你无论身在何处，都能随时看到家人的健康动态。这不仅仅是一个功能，更是一份沉甸甸的关爱。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大家好，在正式开始之前，我想先和大家探讨一个问题：我们通常是如何看待健康的？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是手机APP上跳动的步数数字？是体检报告上的各项指标箭头？还是朋友圈里打卡的健身照片？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在我们看来，健康从来不是冰冷的数据堆砌。每一个数字背后，都是一个真实的人，有着真实的生活状态和情感需求。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观察到，很多时候，健康管理的痛点不仅仅在于如何获得数据，更在于数据背后的“人”。比如，两代人之间那种想关心却又不知如何开口的情感隔阂；又比如，我们明明知道要早睡早起、要运动，但在忙碌的现实生活中，却总是难以坚持自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这些才是我们真正需要解决的问题。今天，我们就从这里开始，聊聊健康管理背后的背景与痛点。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各位好，我们首先来看一下当代年轻人健身面临的第一个普遍痛点——孤独式健身。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现在很多年轻人都是独居状态，健身往往也是一个人的战斗。这种孤独感带来的直接问题就是缺少陪伴和难以坚持。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没有同伴的鼓励，训练的动力很容易枯竭；而没有外部的反馈和监督，惰性就会乘虚而入，让我们的健身计划常常半途而废。这不仅仅是健身的问题，更是一种缺乏正向激励环境的困境。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这一页我们来聊聊作为子女，我们内心深处的那份远距离牵挂。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首先是“异地分居”带来的无奈。因为距离，我们的关心往往隔着屏幕，变得小心翼翼。我们想多问一句，怕打扰到父母的生活；不问，又觉得心里不踏实。这种距离让我们很难捕捉到父母生活中的细微变化。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难以开口”的愧疚。父母总是习惯报喜不报忧，他们不想让我们担心。而我们的关心往往停留在表面的寒暄，没有深入到他们真实的健康状况。很多时候，当我们发现父母身体出问题时，往往已经错过了最好的干预时机，这也成为了我们心中最深的遗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这种牵挂和焦虑，其实是每一个远离家乡的子女共同的心声。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这一页我们来聊聊长辈在使用智能设备时的一个普遍痛点——隐私焦虑。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对于我们来说，注册账号、同意隐私政策可能是使用App的必经之路，但对于长辈而言，这是一种“数字化绑架”。他们习惯了“本地即安全”，对云端存储有着天然的不信任感。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首先是“不愿注册”。很多长辈觉得注册账号就意味着要交出自己的手机号、身份证号，他们觉得这是对个人隐私的过度索取，宁可不用这个App，也不愿意妥协。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担心泄露”。特别是健康类的App，记录着他们的血压、血糖、心率等极其敏感的数据。他们看不懂那些密密麻麻的隐私政策，不知道这些数据被拿去做了什么，会不会被泄露，甚至担心这些数据会被诈骗分子利用。这种对数据失控的恐惧，让他们很难放心地去使用这些智能工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所以，要让长辈真正融入数字生活，首先要解决的就是他们的隐私焦虑问题。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这一页我们来深入探讨当前健康工具面临的核心痛点——场景割裂。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目前的市场上，健身和健康管理工具往往是割裂的，更重要的是，它们缺少了代际之间的数据联动和情感连接。这种割裂主要体现在两个方面：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数据孤岛”问题。父母的体检报告、子女的运动数据分散在不同的App里，平台之间壁垒森严，数据无法互通。这导致我们无法形成一个完整的家庭健康档案，也就无法从整体上了解和管理家人的健康状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情感断层”。现有的工具大多只关注数据的记录和指标的监控，非常冰冷，缺乏情感化的设计。子女无法实时关注到父母的健康异常，父母也很难参与到子女的运动过程中给予鼓励。这种工具属性压倒情感属性的现状，让健康管理变成了一个人的事，而不是家庭的共同守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这一页我们来谈谈健康信息的真假难辨，这也是很多人在寻求健康知识时遇到的最大痛点。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大家有没有发现，现在想在网上查点健康知识，一搜出来全是广告和营销号的软文？这就是典型的“信息过载”和“真伪混杂”。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首先，营销软文泛滥成灾。很多自媒体为了流量，把伪科学包装成“独家秘方”或者“专家建议”，真正有用的医学常识反而被淹没了。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其次，我们的长辈往往成为了受骗的重灾区。他们对健康有需求，也有焦虑，但对网络信息的辨别能力相对较弱，很容易被那些看似很有道理的虚假宣传所蒙骗，不仅花了冤枉钱，还可能耽误了正常的治疗。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虽然有权威的医学信息，但往往都藏在专业的文献里，晦涩难懂，对于普通人来说，获取和理解的门槛都太高了。这就导致了我们在想了解健康知识的时候，要么被虚假信息包围，要么看不懂专业信息，陷入了一个两难的境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各位好，这一页我们来探讨如何解决两代人之间的健康数据孤岛问题。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我们的解决方案核心在于“一个App，多方受益”。首先，对于年轻一代，我们强调“动力”，通过社交化的机制，让运动不再是枯燥的坚持，而是朋友间的互动。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对于长辈，我们的重点是“易用”，适老化的设计让他们能轻松上手，记录健康不再是负担。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对于子女，我们提供“安心”，远程查看和预警功能，让牵挂变得可视化、可感知。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最重要的是，这一切都发生在本地，既保证了数据的绝对私密，又传递了家庭的温暖。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这一页我们进入核心功能的介绍环节。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我们的App不仅仅是一个工具，更是用户的两种贴心陪伴。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首先是健身模式，它像一个私人教练，为你定制计划并实时指导；其次是守护模式，它像一个健康管家，全天候监测你的身体状况并预警。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接下来，让我们分别看看这两种模式下的具体功能。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这一页我们重点介绍APP的“健身模式”。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我们的设计初衷是为年轻人打造一个自我成长管理的闭环，核心在于“清晰反馈”与“正向激励”。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我们设计了四个核心功能模块：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首先是身体基础档案（F1），它不仅是数据的录入，更能智能计算BMI和基础代谢，为用户建立科学的身体基线。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其次是健身计划打卡（F2），我们提供了3套现成的7天入门方案，解决用户“不知道练什么”的痛点，并且加入了随机激励语，让枯燥的坚持变得有趣。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第三是数据可视化（F3），通过图表直观展示运动成果，让用户清晰看到自己的进步，这是坚持下去的动力源泉。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最后是成就勋章系统（F4），通过荣誉体系和社交分享，满足用户的成就感和展示欲，形成正向循环。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目前，这四个核心功能均已开发实现。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各位好，这一页我们来详细看看“守护模式”的核心功能。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守护模式是专为家庭代际关怀设计的，它的核心理念是“默默关注，安心守护”。我们希望通过技术手段，让子女能够时刻了解长辈的健康状况，同时又不会打扰到长辈的日常生活。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这里有四个关键的功能点：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首先是“家人健康档案”，它支持多位家人的健康信息统一管理，无论是病史、用药记录还是体检报告，都能一目了然，方便子女全面掌握家人的健康状况。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其次是“服药打卡提醒”，这对于有慢性病需要长期服药的长辈来说非常实用。系统可以自定义服药计划，准时提醒，并且打卡记录会同步给子女，确保长辈按时服药。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第三是“血压心率记录”，长辈可以一键录入数据，系统会自动识别异常数值并标红预警，同时生成趋势图表，让我们能直观地看到健康指标的变化。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最后，我们非常重视隐私保护，因此有“数据加密同步”功能。采用银行级的AES加密技术，确保数据在传输和存储过程中的安全，只有授权的子女才能查看这些敏感信息。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这四个功能共同构成了一个温暖的家庭健康防护网，让爱与关怀无距离。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这一页我们来谈谈大家最关心的话题——隐私与安全。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在我们的产品设计理念中，安全是底线，更是基石。我们坚持“你的数据，只属于你”。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首先，我们采用了零后端架构，这意味着所有的数据都保存在你的设备本地，根本不会上传到云端，从物理层面杜绝了云端泄露的风险。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其次，为了保障数据在传输和导出过程中的安全，我们使用了金融级的AES-256加密算法，这是目前银行和金融机构广泛使用的加密标准，确保数据的绝对安全。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最后，我们做到了极致的隐私保护：无需注册账号，不收集你的手机号、邮箱等任何个人信息。甚至连AI的健康推理都是在你的设备端离线完成的，不上传任何数据。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所以，你可以完全放心，你的健康数据，只在你的掌控之中。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这一页我们来详细解读系统的三层防护体系，这也是保障用户数据安全的核心基石。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第一层，L1本地离线存储。我们采用了基于Hive的纯Dart实现，这是一种轻量级的嵌入式数据库。它的特点是所有数据都只存储在本地设备上，完全不经过云端，从物理层面隔绝了云端泄露的风险。同时，它的读写速度极快，几乎不会对应用性能造成任何影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第二层是L2 AES-256加密流转。无论是在文件备份还是迁移过程中，我们都使用了军工级的AES-256算法进行全程加密。这意味着，即使文件在传输过程中被意外截取，或者存储介质丢失，没有密钥也无法解析出任何有效信息。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第三层是L3局域网无感同步。我们利用WiFi直连技术，实现了设备间的点对点同步。数据流转全程在局域网内部完成，不经过任何公网服务器，这进一步杜绝了网络监听和数据截获的可能性。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最后，在底层技术层面，我们保持了极高的代码质量标准，通过了严格的静态分析检查，确保了系统的健壮性和安全性。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各位评委、各位伙伴，接下来我们进入第四章，探讨我们产品的三大核心新功能规划。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我们的设计理念是从“能用”升级到“好用且温暖”。这不仅仅是功能的堆砌，更是对用户体验的深度挖掘。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首先是极速响应体系，我们优化了底层算法，确保急救信息能以最快速度触达，这是生命救援的基础。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其次是全维温情关怀，我们引入了心理疏导和语音陪伴机制，因为我们知道，在紧急时刻，用户更需要的是安抚和指引。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最后是主动智能预判，利用AI技术实现从被动响应到主动预警的转变，真正做到防患于未然。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这三点构成了我们产品未来的核心竞争力，也体现了我们对生命守护的极致追求。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各位好，这一页我们来介绍一个极具社会价值的新功能——医疗急救卡。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我们的理念是“关键时刻，一张卡片守护生命”。这个功能目前处于规划中，旨在为用户提供一份随身携带的数字化生命保障。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它主要包含五大核心亮点：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首先是基础信息聚合，它能自动同步您的基本信息，让身份识别一目了然。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其次是全维的医疗档案，不仅记录过敏史，还能自动同步您的用药记录，这对于急救至关重要。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第三是紧急联络功能，支持锁屏一键拨号，真正做到零操作门槛。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第四是锁屏直显，这是一个非常关键的设计，急救人员无需解锁手机即可查看关键信息，抓住黄金救援时间。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最后，我们支持将急救卡导出为图片，您可以打印出来随身携带，或者在紧急时刻直接分享给医生。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我们计划在初赛后尽快完成首版上线，希望能为大家的安全保驾护航。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各位好，这一页我们展示的是即将规划上线的“性别差异化健康功能”。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我们都知道，男女在生理结构、激素水平和代谢方式上存在显著差异，因此我们不能用同一套标准来衡量和管理健康。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女性关怀方面，我们重点打造了生理周期智能管理，能够精准预测并提醒，同时提供分阶段的饮食和运动建议。对于有孕育需求的用户，我们提供了从备孕到孕期的全周期支持。此外，我们还建立了基于女性生理特点的专属数据参考标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针对男性用户，我们侧重力量训练的定制化方案，帮助提升肌肉量和基础代谢。同时，提供更精准的BMR测算，科学指导饮食。对于中年男性，我们特别加入了前列腺健康预警功能。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通过这些差异化的设计，我们希望能为用户提供更精准、更贴心的健康关怀。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这一页我们来预览一下即将推出的“模型商店”功能。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我们的核心理念是“把大模型装进口袋”，实现真正的本地运行，确保数据隐私。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我们规划了三个梯队的模型：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首先是入门级的轻量模型，比如DeepSeek 1.5B和阿里的Qwen2.5 3B，它们对设备要求低，甚至手机都能跑，非常适合日常聊天。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其次是进阶模型，如7B参数的DeepSeek和Llama 3.1，这些模型在PC上运行，具备更强的逻辑推理和代码能力。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最后，我们还引入了垂直领域的专家模型，比如专注于医疗的Meditron，为特定场景提供专业支持。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所有模型都通过国内镜像下载，无需科学上网，真正做到开箱即用。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这一页我们来深入了解AI助手的能力边界与安全承诺。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左侧，我们将AI的能力分为五个进阶层级：从基础的智能问答，到具备数据分析能力的数据解读，再到能够根据用户习惯进行自我优化的个性化训练。更高级的是情绪陪伴，它能感知你的情绪并给予共情反馈；最高层级则是能够自动生成周报总结，帮助你高效复盘工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但在享受便利的同时，我们必须明确右侧的安全边界：AI不具备医学资质，不能替代医生做诊断；同样，它也不能替代专业的心理治疗。这是对用户负责的红线。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最后，我们承诺所有的数据处理都在本地完成，不上传云端，切实保障你的隐私安全。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这一页展示了我们产品的演进路线图。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我们将整个发展过程规划为三个关键阶段：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第一阶段是“初赛核心阶段”，目前我们已经100%完成了这个阶段的目标，包括核心功能的上线、MVP的验证以及基础架构的搭建，这为我们打下了坚实的基础。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接下来的第二阶段是“进阶优化阶段”，我们将重点放在性能调优、垂直场景的拓展以及智能化推荐上，以提升用户体验和留存。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最后是第三阶段的“生态构建阶段”，我们将致力于开放平台，构建更广泛的生态系统，实现多端互通。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目前，我们正站在从第一阶段迈向第二阶段的关键节点，准备充分，信心满满。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各位好，接下来我们进入第六部分：产品深度文档。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我们常说，产品不只是功能的堆砌，更是体验的设计。这一页我们想传达的核心理念是：产品的专业度体现在细节之中。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全链路体验闭环，我们不孤立地看每一个功能，而是关注用户从接触到使用的完整旅程；其次是包容性设计，确保产品能被尽可能多的人无障碍地使用；最后是稳健的容错设计，即使在系统异常时，也能给予用户清晰的反馈和兜底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这三个方面构成了我们产品设计的基石，也是我们今天要深入探讨的内容。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这一页我们展示了产品针对不同用户群体的核心旅程地图。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左侧是针对年轻用户的健身养成路径。我们通过游戏化的勋章机制和可视化的数据反馈，打造了一个正向激励的闭环，让运动变得更有趣、更容易坚持。从启动到复盘，每一步都设计得紧凑且充满成就感。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则是针对长辈用户的健康守护路径。考虑到长辈的使用习惯，我们推出了极简模式，去除了复杂的广告和冗余功能，聚焦于核心的健康指标管理。更重要的是，我们打通了亲情账号，实现了数据的实时同步和异常预警，让子女即便不在身边，也能随时掌握父母的健康状况，真正做到了科技赋能亲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这一页我们来详细拆解可访问性自查的六大核心维度。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首先是视觉层面，我们要确保字体支持0.8到1.8倍的缩放，并且提供色盲友好的配色方案，这是为了照顾视力有差异的用户。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其次是操作层面，不仅要支持鼠标，还要支持键盘的Tab键导航，并且焦点要清晰可见，这对于运动障碍用户非常重要。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然后是听障和视障支持，所有的非文本元素都要有语义化标签，让读屏软件能正确识别。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最后，在基础体验上，我们要保证文字对比度达到WCAG AA标准，并且按钮的点击区域要足够大，防止误触，特别是对于老年人和手指粗大的用户。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遵循这些标准，才能真正做到无障碍、有温度的设计。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这一页我们重点讨论了产品的“容错机制”，也就是错误边界与降级策略。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在复杂的前端环境中，网络波动、设备差异、权限限制等异常情况是不可避免的。我们不能假设系统永远正常运行，必须做好最坏的打算。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这张表，我们列举了几个典型的异常场景。比如当Hive初始化失败时，我们不是让页面卡死，而是给出友好的提示并提供重试按钮；当用户拒绝通知权限时，我们不会反复弹窗骚扰，而是降级为页面内的轻量提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这种设计的核心在于：即使系统出现异常，用户体验依然是流畅和可控的。这不仅能减少用户的困惑和流失，更是产品健壮性的直接体现。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接下来我们进入技术亮点部分。在我们的产品中，技术从来不是冰冷的代码堆砌，而是为了更好的体验服务的工具。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技术选型遵循三个核心原则：首先是易用性优先，我们用轻量级的架构设计，确保用户操作的流畅与自然；其次是稳定性，这是产品的基石，我们通过多层级的容灾和高并发处理，保障服务的可靠；最后是有温度的连接，技术应当传递关怀，让每一次交互都更加智能和贴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本页重点展示了产品的六大核心技术优势。首先是基于 Flutter 的跨端融合，这不仅保证了开发效率，更确保了多端体验的一致性。其次，采用 Hive 进行本地存储，实现了极致的读写性能和零依赖。在视觉层面，我们打造了动态自适应系统，支持多主题切换。同时，我们高度重视无障碍设计，符合 WCAG 标准。产品坚持零后端、零注册的设计理念，确保用户隐私安全。最后，引入端侧 AI 离线推理，让智能体验既快捷又安全。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各位好，今天的分享到这里就接近尾声了。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我们一直在思考，健康管理应该是什么样的？它不应该是冰冷的数据堆砌，而应该是一份温暖的陪伴。这也是我们“家檐安记”想要传递的理念——让自律有陪伴，让牵挂有回音。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无论是在手机上的随时记录，还是在电脑前的深度分析，我们希望通过多端协同，为您和您的家人提供全方位的健康守护。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让我们一起，用更温柔的方式，拥抱健康的生活。谢谢大家！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12" Target="../notesSlides/notesSlide18.xml" Type="http://schemas.openxmlformats.org/officeDocument/2006/relationships/notesSlid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14" Target="../media/image99.png" Type="http://schemas.openxmlformats.org/officeDocument/2006/relationships/image"/><Relationship Id="rId15" Target="../media/image100.svg" Type="http://schemas.openxmlformats.org/officeDocument/2006/relationships/image"/><Relationship Id="rId16" Target="../media/image101.png" Type="http://schemas.openxmlformats.org/officeDocument/2006/relationships/image"/><Relationship Id="rId17" Target="../media/image102.svg" Type="http://schemas.openxmlformats.org/officeDocument/2006/relationships/image"/><Relationship Id="rId18" Target="../media/image103.png" Type="http://schemas.openxmlformats.org/officeDocument/2006/relationships/image"/><Relationship Id="rId19" Target="../media/image104.svg" Type="http://schemas.openxmlformats.org/officeDocument/2006/relationships/image"/><Relationship Id="rId2" Target="../media/image87.png" Type="http://schemas.openxmlformats.org/officeDocument/2006/relationships/image"/><Relationship Id="rId20" Target="../media/image105.png" Type="http://schemas.openxmlformats.org/officeDocument/2006/relationships/image"/><Relationship Id="rId21" Target="../media/image106.svg" Type="http://schemas.openxmlformats.org/officeDocument/2006/relationships/image"/><Relationship Id="rId22" Target="../notesSlides/notesSlide19.xml" Type="http://schemas.openxmlformats.org/officeDocument/2006/relationships/notesSlide"/><Relationship Id="rId3" Target="../media/image88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svg" Type="http://schemas.openxmlformats.org/officeDocument/2006/relationships/image"/><Relationship Id="rId12" Target="../media/image117.png" Type="http://schemas.openxmlformats.org/officeDocument/2006/relationships/image"/><Relationship Id="rId13" Target="../media/image118.svg" Type="http://schemas.openxmlformats.org/officeDocument/2006/relationships/image"/><Relationship Id="rId14" Target="../media/image119.png" Type="http://schemas.openxmlformats.org/officeDocument/2006/relationships/image"/><Relationship Id="rId15" Target="../media/image120.svg" Type="http://schemas.openxmlformats.org/officeDocument/2006/relationships/image"/><Relationship Id="rId16" Target="../media/image121.png" Type="http://schemas.openxmlformats.org/officeDocument/2006/relationships/image"/><Relationship Id="rId17" Target="../media/image122.svg" Type="http://schemas.openxmlformats.org/officeDocument/2006/relationships/image"/><Relationship Id="rId18" Target="../notesSlides/notesSlide21.xml" Type="http://schemas.openxmlformats.org/officeDocument/2006/relationships/notesSlide"/><Relationship Id="rId2" Target="../media/image107.png" Type="http://schemas.openxmlformats.org/officeDocument/2006/relationships/image"/><Relationship Id="rId3" Target="../media/image108.svg" Type="http://schemas.openxmlformats.org/officeDocument/2006/relationships/image"/><Relationship Id="rId4" Target="../media/image109.png" Type="http://schemas.openxmlformats.org/officeDocument/2006/relationships/image"/><Relationship Id="rId5" Target="../media/image110.svg" Type="http://schemas.openxmlformats.org/officeDocument/2006/relationships/image"/><Relationship Id="rId6" Target="../media/image111.png" Type="http://schemas.openxmlformats.org/officeDocument/2006/relationships/image"/><Relationship Id="rId7" Target="../media/image112.svg" Type="http://schemas.openxmlformats.org/officeDocument/2006/relationships/image"/><Relationship Id="rId8" Target="../media/image113.png" Type="http://schemas.openxmlformats.org/officeDocument/2006/relationships/image"/><Relationship Id="rId9" Target="../media/image11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3.png" Type="http://schemas.openxmlformats.org/officeDocument/2006/relationships/image"/><Relationship Id="rId3" Target="../media/image124.sv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127.png" Type="http://schemas.openxmlformats.org/officeDocument/2006/relationships/image"/><Relationship Id="rId7" Target="../media/image128.svg" Type="http://schemas.openxmlformats.org/officeDocument/2006/relationships/image"/><Relationship Id="rId8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9.png" Type="http://schemas.openxmlformats.org/officeDocument/2006/relationships/image"/><Relationship Id="rId3" Target="../media/image130.sv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media/image133.png" Type="http://schemas.openxmlformats.org/officeDocument/2006/relationships/image"/><Relationship Id="rId7" Target="../media/image134.svg" Type="http://schemas.openxmlformats.org/officeDocument/2006/relationships/image"/><Relationship Id="rId8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3.png" Type="http://schemas.openxmlformats.org/officeDocument/2006/relationships/image"/><Relationship Id="rId11" Target="../media/image144.svg" Type="http://schemas.openxmlformats.org/officeDocument/2006/relationships/image"/><Relationship Id="rId12" Target="../media/image145.png" Type="http://schemas.openxmlformats.org/officeDocument/2006/relationships/image"/><Relationship Id="rId13" Target="../media/image146.svg" Type="http://schemas.openxmlformats.org/officeDocument/2006/relationships/image"/><Relationship Id="rId14" Target="../media/image147.png" Type="http://schemas.openxmlformats.org/officeDocument/2006/relationships/image"/><Relationship Id="rId15" Target="../media/image148.svg" Type="http://schemas.openxmlformats.org/officeDocument/2006/relationships/image"/><Relationship Id="rId16" Target="../media/image149.png" Type="http://schemas.openxmlformats.org/officeDocument/2006/relationships/image"/><Relationship Id="rId17" Target="../media/image150.svg" Type="http://schemas.openxmlformats.org/officeDocument/2006/relationships/image"/><Relationship Id="rId18" Target="../media/image151.png" Type="http://schemas.openxmlformats.org/officeDocument/2006/relationships/image"/><Relationship Id="rId19" Target="../media/image152.svg" Type="http://schemas.openxmlformats.org/officeDocument/2006/relationships/image"/><Relationship Id="rId2" Target="../media/image135.png" Type="http://schemas.openxmlformats.org/officeDocument/2006/relationships/image"/><Relationship Id="rId20" Target="../media/image153.png" Type="http://schemas.openxmlformats.org/officeDocument/2006/relationships/image"/><Relationship Id="rId21" Target="../media/image154.svg" Type="http://schemas.openxmlformats.org/officeDocument/2006/relationships/image"/><Relationship Id="rId22" Target="../media/image155.png" Type="http://schemas.openxmlformats.org/officeDocument/2006/relationships/image"/><Relationship Id="rId23" Target="../media/image156.svg" Type="http://schemas.openxmlformats.org/officeDocument/2006/relationships/image"/><Relationship Id="rId24" Target="../notesSlides/notesSlide24.xml" Type="http://schemas.openxmlformats.org/officeDocument/2006/relationships/notesSlide"/><Relationship Id="rId3" Target="../media/image136.svg" Type="http://schemas.openxmlformats.org/officeDocument/2006/relationships/image"/><Relationship Id="rId4" Target="../media/image137.png" Type="http://schemas.openxmlformats.org/officeDocument/2006/relationships/image"/><Relationship Id="rId5" Target="../media/image138.svg" Type="http://schemas.openxmlformats.org/officeDocument/2006/relationships/image"/><Relationship Id="rId6" Target="../media/image139.png" Type="http://schemas.openxmlformats.org/officeDocument/2006/relationships/image"/><Relationship Id="rId7" Target="../media/image140.svg" Type="http://schemas.openxmlformats.org/officeDocument/2006/relationships/image"/><Relationship Id="rId8" Target="../media/image141.png" Type="http://schemas.openxmlformats.org/officeDocument/2006/relationships/image"/><Relationship Id="rId9" Target="../media/image14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7.png" Type="http://schemas.openxmlformats.org/officeDocument/2006/relationships/image"/><Relationship Id="rId3" Target="../media/image158.svg" Type="http://schemas.openxmlformats.org/officeDocument/2006/relationships/image"/><Relationship Id="rId4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9.png" Type="http://schemas.openxmlformats.org/officeDocument/2006/relationships/image"/><Relationship Id="rId3" Target="../media/image160.svg" Type="http://schemas.openxmlformats.org/officeDocument/2006/relationships/image"/><Relationship Id="rId4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1.png" Type="http://schemas.openxmlformats.org/officeDocument/2006/relationships/image"/><Relationship Id="rId3" Target="../media/image162.svg" Type="http://schemas.openxmlformats.org/officeDocument/2006/relationships/image"/><Relationship Id="rId4" Target="../media/image163.png" Type="http://schemas.openxmlformats.org/officeDocument/2006/relationships/image"/><Relationship Id="rId5" Target="../media/image164.svg" Type="http://schemas.openxmlformats.org/officeDocument/2006/relationships/image"/><Relationship Id="rId6" Target="../media/image165.png" Type="http://schemas.openxmlformats.org/officeDocument/2006/relationships/image"/><Relationship Id="rId7" Target="../media/image166.svg" Type="http://schemas.openxmlformats.org/officeDocument/2006/relationships/image"/><Relationship Id="rId8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76.svg" Type="http://schemas.openxmlformats.org/officeDocument/2006/relationships/image"/><Relationship Id="rId12" Target="../media/image177.png" Type="http://schemas.openxmlformats.org/officeDocument/2006/relationships/image"/><Relationship Id="rId13" Target="../media/image178.svg" Type="http://schemas.openxmlformats.org/officeDocument/2006/relationships/image"/><Relationship Id="rId14" Target="../notesSlides/notesSlide28.xml" Type="http://schemas.openxmlformats.org/officeDocument/2006/relationships/notesSlide"/><Relationship Id="rId2" Target="../media/image167.png" Type="http://schemas.openxmlformats.org/officeDocument/2006/relationships/image"/><Relationship Id="rId3" Target="../media/image168.svg" Type="http://schemas.openxmlformats.org/officeDocument/2006/relationships/image"/><Relationship Id="rId4" Target="../media/image169.png" Type="http://schemas.openxmlformats.org/officeDocument/2006/relationships/image"/><Relationship Id="rId5" Target="../media/image170.svg" Type="http://schemas.openxmlformats.org/officeDocument/2006/relationships/image"/><Relationship Id="rId6" Target="../media/image171.png" Type="http://schemas.openxmlformats.org/officeDocument/2006/relationships/image"/><Relationship Id="rId7" Target="../media/image172.svg" Type="http://schemas.openxmlformats.org/officeDocument/2006/relationships/image"/><Relationship Id="rId8" Target="../media/image173.png" Type="http://schemas.openxmlformats.org/officeDocument/2006/relationships/image"/><Relationship Id="rId9" Target="../media/image17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9.xml" Type="http://schemas.openxmlformats.org/officeDocument/2006/relationships/notesSlide"/><Relationship Id="rId11" Target="../media/image187.png" Type="http://schemas.openxmlformats.org/officeDocument/2006/relationships/image"/><Relationship Id="rId2" Target="../media/image179.png" Type="http://schemas.openxmlformats.org/officeDocument/2006/relationships/image"/><Relationship Id="rId3" Target="../media/image180.svg" Type="http://schemas.openxmlformats.org/officeDocument/2006/relationships/image"/><Relationship Id="rId4" Target="../media/image181.png" Type="http://schemas.openxmlformats.org/officeDocument/2006/relationships/image"/><Relationship Id="rId5" Target="../media/image182.svg" Type="http://schemas.openxmlformats.org/officeDocument/2006/relationships/image"/><Relationship Id="rId6" Target="../media/image183.png" Type="http://schemas.openxmlformats.org/officeDocument/2006/relationships/image"/><Relationship Id="rId7" Target="../media/image184.svg" Type="http://schemas.openxmlformats.org/officeDocument/2006/relationships/image"/><Relationship Id="rId8" Target="../media/image185.png" Type="http://schemas.openxmlformats.org/officeDocument/2006/relationships/image"/><Relationship Id="rId9" Target="../media/image18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DF8F2">
                <a:alpha val="100000"/>
              </a:srgbClr>
            </a:gs>
            <a:gs pos="100000">
              <a:srgbClr val="EBDEC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144000" y="-1524000"/>
            <a:ext cx="4064000" cy="4064000"/>
          </a:xfrm>
          <a:prstGeom prst="ellipse">
            <a:avLst/>
          </a:prstGeom>
          <a:solidFill>
            <a:srgbClr val="D2B48C">
              <a:alpha val="12000"/>
            </a:srgbClr>
          </a:solidFill>
          <a:ln cmpd="sng" cap="flat">
            <a:solidFill>
              <a:srgbClr val="B89669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572000"/>
            <a:ext cx="3556000" cy="3556000"/>
          </a:xfrm>
          <a:prstGeom prst="ellipse">
            <a:avLst/>
          </a:prstGeom>
          <a:solidFill>
            <a:srgbClr val="DEB887">
              <a:alpha val="12000"/>
            </a:srgbClr>
          </a:solidFill>
          <a:ln cmpd="sng" cap="flat">
            <a:solidFill>
              <a:srgbClr val="C59A64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94632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#社会服务 #智慧助老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651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B3728"/>
                </a:solidFill>
                <a:latin typeface="Noto Serif SC"/>
                <a:ea typeface="Noto Serif SC"/>
                <a:cs typeface="Noto Serif SC"/>
                <a:sym typeface="Noto Serif SC"/>
              </a:rPr>
              <a:t>家檐安记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2984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 spc="600">
                <a:solidFill>
                  <a:srgbClr val="A08C78"/>
                </a:solidFill>
                <a:latin typeface="Arial"/>
                <a:ea typeface="Arial"/>
                <a:cs typeface="Arial"/>
                <a:sym typeface="Arial"/>
              </a:rPr>
              <a:t>JIAYAN · AN · JI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3746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C40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让自律有陪伴，让牵挂有回音。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4635500"/>
            <a:ext cx="914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523E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一款融合年轻人健身自律与长辈健康守护的家庭智能关怀工具，将生硬的健康数据转化为温暖的亲情纽带，让每一次记录都成为爱的传递，让家庭健康管理充满温度与陪伴。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175000" y="5651500"/>
            <a:ext cx="2413000" cy="558800"/>
          </a:xfrm>
          <a:prstGeom prst="roundRect">
            <a:avLst>
              <a:gd name="adj" fmla="val 0"/>
            </a:avLst>
          </a:prstGeom>
          <a:solidFill>
            <a:srgbClr val="B4734B">
              <a:alpha val="100000"/>
            </a:srgbClr>
          </a:solidFill>
          <a:ln cmpd="sng" cap="flat">
            <a:solidFill>
              <a:srgbClr val="9B5931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开始探索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5651500"/>
            <a:ext cx="2413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mpd="sng" cap="flat">
            <a:solidFill>
              <a:srgbClr val="B4734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4734B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查看未来规划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5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978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D978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635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5A4B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EBE1D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159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D9782D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87500" y="3810000"/>
            <a:ext cx="508000" cy="38100"/>
          </a:xfrm>
          <a:prstGeom prst="roundRect">
            <a:avLst>
              <a:gd name="adj" fmla="val 0"/>
            </a:avLst>
          </a:prstGeom>
          <a:solidFill>
            <a:srgbClr val="D9782D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4127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3C30"/>
                </a:solidFill>
                <a:latin typeface="Noto Sans SC"/>
                <a:ea typeface="Noto Sans SC"/>
                <a:cs typeface="Noto Sans SC"/>
                <a:sym typeface="Noto Sans SC"/>
              </a:rPr>
              <a:t>零运维架构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4826000"/>
            <a:ext cx="241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273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Serverless 无服务器架构，无需维护底层资源，弹性伸缩，从根本上降低运维成本与风险。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65500" y="1778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EBE1D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65500" y="2159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D9782D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3810000"/>
            <a:ext cx="508000" cy="38100"/>
          </a:xfrm>
          <a:prstGeom prst="roundRect">
            <a:avLst>
              <a:gd name="adj" fmla="val 0"/>
            </a:avLst>
          </a:prstGeom>
          <a:solidFill>
            <a:srgbClr val="D9782D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65500" y="4127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3C30"/>
                </a:solidFill>
                <a:latin typeface="Noto Sans SC"/>
                <a:ea typeface="Noto Sans SC"/>
                <a:cs typeface="Noto Sans SC"/>
                <a:sym typeface="Noto Sans SC"/>
              </a:rPr>
              <a:t>多端无缝协同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4826000"/>
            <a:ext cx="241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27369"/>
                </a:solidFill>
                <a:latin typeface="Noto Sans SC"/>
                <a:ea typeface="Noto Sans SC"/>
                <a:cs typeface="Noto Sans SC"/>
                <a:sym typeface="Noto Sans SC"/>
              </a:rPr>
              <a:t>完美覆盖 Web 管理端、iOS 及 Android 移动端，三端数据毫秒级同步，随时随地高效处理业务。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78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EBE1D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159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D9782D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02500" y="3810000"/>
            <a:ext cx="508000" cy="38100"/>
          </a:xfrm>
          <a:prstGeom prst="roundRect">
            <a:avLst>
              <a:gd name="adj" fmla="val 0"/>
            </a:avLst>
          </a:prstGeom>
          <a:solidFill>
            <a:srgbClr val="D9782D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127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3C3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数据本地留存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826000"/>
            <a:ext cx="241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2736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支持完全本地化部署与存储，核心数据不出域，从源头杜绝隐私泄露，确保企业数据主权安全。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80500" y="1778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EBE1D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80500" y="2159000"/>
            <a:ext cx="266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D9782D"/>
                </a:solidFill>
                <a:latin typeface="Noto Sans SC"/>
                <a:ea typeface="Noto Sans SC"/>
                <a:cs typeface="Noto Sans SC"/>
                <a:sym typeface="Noto Sans SC"/>
              </a:rPr>
              <a:t>AES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3810000"/>
            <a:ext cx="508000" cy="38100"/>
          </a:xfrm>
          <a:prstGeom prst="roundRect">
            <a:avLst>
              <a:gd name="adj" fmla="val 0"/>
            </a:avLst>
          </a:prstGeom>
          <a:solidFill>
            <a:srgbClr val="D9782D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80500" y="4127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3C30"/>
                </a:solidFill>
                <a:latin typeface="Noto Sans SC"/>
                <a:ea typeface="Noto Sans SC"/>
                <a:cs typeface="Noto Sans SC"/>
                <a:sym typeface="Noto Sans SC"/>
              </a:rPr>
              <a:t>金融级加密导出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207500" y="4826000"/>
            <a:ext cx="241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273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AES-256 高强度加密算法，对所有导出文件进行双重加密处理，保障数据传输与落地的绝对安全。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3810000" cy="3810000"/>
          </a:xfrm>
          <a:prstGeom prst="ellipse">
            <a:avLst/>
          </a:prstGeom>
          <a:solidFill>
            <a:srgbClr val="FFE0B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E0F2F1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健身打卡 · 记录每一步蜕变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841500"/>
            <a:ext cx="3048000" cy="3048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8669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9:41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111500" y="18669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4G 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286000"/>
            <a:ext cx="3048000" cy="457200"/>
          </a:xfrm>
          <a:prstGeom prst="roundRect">
            <a:avLst>
              <a:gd name="adj" fmla="val 0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3876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🎉 打卡成功！坚持就是胜利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2857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10月24日 周四 ｜ 今日健身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3365500"/>
            <a:ext cx="3048000" cy="76200"/>
          </a:xfrm>
          <a:prstGeom prst="roundRect">
            <a:avLst>
              <a:gd name="adj" fmla="val 0"/>
            </a:avLst>
          </a:prstGeom>
          <a:solidFill>
            <a:srgbClr val="EEEE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3365500"/>
            <a:ext cx="2171700" cy="762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35560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本周进度 5/7 天 · 超越85%用户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323" flipH="false" flipV="false">
            <a:off x="889013" y="393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89000" y="4064000"/>
            <a:ext cx="1460500" cy="57150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1275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💪 肩颈放松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✅ 3组已完成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476500" y="4064000"/>
            <a:ext cx="1460500" cy="57150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540000" y="41275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🔄 肩部环绕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✅ 4组已完成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4826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F3E5F5">
              <a:alpha val="50000"/>
            </a:srgbClr>
          </a:solidFill>
          <a:ln w="12700" cmpd="sng" cap="flat">
            <a:solidFill>
              <a:srgbClr val="E1B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4953000"/>
            <a:ext cx="139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1B9A"/>
                </a:solidFill>
                <a:latin typeface="Noto Sans SC"/>
                <a:ea typeface="Noto Sans SC"/>
                <a:cs typeface="Noto Sans SC"/>
                <a:sym typeface="Noto Sans SC"/>
              </a:rPr>
              <a:t>连续打卡</a:t>
            </a:r>
            <a:r>
              <a:rPr lang="en-US" b="false" i="false" strike="noStrike" u="none" sz="1600">
                <a:solidFill>
                  <a:srgbClr val="6A1B9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6A1B9A"/>
                </a:solidFill>
                <a:latin typeface="Noto Sans SC"/>
                <a:ea typeface="Noto Sans SC"/>
                <a:cs typeface="Noto Sans SC"/>
                <a:sym typeface="Noto Sans SC"/>
              </a:rPr>
              <a:t>5 天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476500" y="4826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E3F2FD">
              <a:alpha val="50000"/>
            </a:srgbClr>
          </a:solidFill>
          <a:ln w="12700" cmpd="sng" cap="flat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40000" y="4953000"/>
            <a:ext cx="139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565C0"/>
                </a:solidFill>
                <a:latin typeface="Noto Sans SC"/>
                <a:ea typeface="Noto Sans SC"/>
                <a:cs typeface="Noto Sans SC"/>
                <a:sym typeface="Noto Sans SC"/>
              </a:rPr>
              <a:t>本月减重</a:t>
            </a:r>
            <a:r>
              <a:rPr lang="en-US" b="false" i="false" strike="noStrike" u="none" sz="1600">
                <a:solidFill>
                  <a:srgbClr val="1565C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1565C0"/>
                </a:solidFill>
                <a:latin typeface="Noto Sans SC"/>
                <a:ea typeface="Noto Sans SC"/>
                <a:cs typeface="Noto Sans SC"/>
                <a:sym typeface="Noto Sans SC"/>
              </a:rPr>
              <a:t>1.2 kg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72000" y="1651000"/>
            <a:ext cx="685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FDBB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762500" y="20066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461000" y="1752600"/>
            <a:ext cx="5842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智能识别，一键轻松打卡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D403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支持跑步、瑜伽、器械等十余种运动模式自动识别，无需手动录入，运动结束即刻同步数据，让记录变得毫无负担。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72000" y="3048000"/>
            <a:ext cx="685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FDBB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62500" y="3403600"/>
            <a:ext cx="508000" cy="508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5461000" y="3149600"/>
            <a:ext cx="5842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多维数据，科学复盘身体变化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D403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实时追踪体重、体脂率、运动频次与时长，生成可视化的周/月趋势报表，让你清晰看到每一次坚持带来的微小改变。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572000" y="4445000"/>
            <a:ext cx="685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FDBB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762500" y="4800600"/>
            <a:ext cx="508000" cy="508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5461000" y="4546600"/>
            <a:ext cx="5842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趣味激励，告别运动枯燥感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D403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连续打卡解锁专属成就徽章，参与好友排行榜PK，让健身不再是孤军奋战，用正向反馈机制帮你轻松养成运动习惯。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6096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“自律不是自我束缚，而是对自己的温柔投资 —— 每一次打卡，都是向更好的自己迈进。”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3810000" cy="3810000"/>
          </a:xfrm>
          <a:prstGeom prst="ellipse">
            <a:avLst/>
          </a:prstGeom>
          <a:solidFill>
            <a:srgbClr val="EAB30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3810000"/>
            <a:ext cx="5080000" cy="5080000"/>
          </a:xfrm>
          <a:prstGeom prst="ellipse">
            <a:avLst/>
          </a:prstGeom>
          <a:solidFill>
            <a:srgbClr val="EAB30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593D2B"/>
                </a:solidFill>
                <a:latin typeface="Noto Sans SC"/>
                <a:ea typeface="Noto Sans SC"/>
                <a:cs typeface="Noto Sans SC"/>
                <a:sym typeface="Noto Sans SC"/>
              </a:rPr>
              <a:t>守护模式：把家人的健康装进口袋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397000"/>
            <a:ext cx="3556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CD2B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1651000"/>
            <a:ext cx="3175000" cy="571500"/>
          </a:xfrm>
          <a:prstGeom prst="roundRect">
            <a:avLst>
              <a:gd name="adj" fmla="val 0"/>
            </a:avLst>
          </a:prstGeom>
          <a:solidFill>
            <a:srgbClr val="EBE1D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2B"/>
                </a:solidFill>
                <a:latin typeface="Noto Sans SC"/>
                <a:ea typeface="Noto Sans SC"/>
                <a:cs typeface="Noto Sans SC"/>
                <a:sym typeface="Noto Sans SC"/>
              </a:rPr>
              <a:t>家人健康概览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413000"/>
            <a:ext cx="3175000" cy="1587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33500" y="25400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母亲 58岁 · 糖尿病史</a:t>
            </a:r>
            <a:r>
              <a:rPr lang="en-US" b="false" i="false" strike="noStrike" u="none" sz="12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需关注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2921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血压 148/95 mmHg | 心率 82 bpm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3429000"/>
            <a:ext cx="292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建议：今日血压偏高，减少盐分摄入，保持情绪平稳，多休息。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06500" y="4191000"/>
            <a:ext cx="3175000" cy="1841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33500" y="43180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父亲 62岁 · 高血压</a:t>
            </a:r>
            <a:r>
              <a:rPr lang="en-US" b="false" i="false" strike="noStrike" u="none" sz="1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✅ 状态稳定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4699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血压 128/82 | 步数 6,842 | 心率 72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33500" y="5207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💊 服药打卡：早[已服] 中[已服] 晚[⏰待服]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今日步行达标，继续保持良好作息～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1651000"/>
            <a:ext cx="3238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2D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270500" y="1841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651500" y="1816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2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实时体征追踪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70500" y="2286000"/>
            <a:ext cx="2857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5746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7x24小时持续监测血压、心率等核心指标。一旦数据超出安全阈值，系统立即触发多级预警，子女端同步推送，确保第一时间知晓。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09000" y="1651000"/>
            <a:ext cx="3238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2D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699500" y="1841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080500" y="1816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2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智能服药管家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699500" y="2286000"/>
            <a:ext cx="2857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574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支持自定义用药方案，精准推送服药提醒。子女可远程查看打卡记录，彻底解决长辈因健忘漏服药物的问题，提升用药依从性。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0" y="3937000"/>
            <a:ext cx="3238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2D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270500" y="4127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5651500" y="4102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2B"/>
                </a:solidFill>
                <a:latin typeface="Noto Sans SC"/>
                <a:ea typeface="Noto Sans SC"/>
                <a:cs typeface="Noto Sans SC"/>
                <a:sym typeface="Noto Sans SC"/>
              </a:rPr>
              <a:t>隐私安全护盾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270500" y="4572000"/>
            <a:ext cx="2857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5746"/>
                </a:solidFill>
                <a:latin typeface="Noto Sans SC"/>
                <a:ea typeface="Noto Sans SC"/>
                <a:cs typeface="Noto Sans SC"/>
                <a:sym typeface="Noto Sans SC"/>
              </a:rPr>
              <a:t>独创“模糊展示+授权解锁”机制，防止他人偷窥隐私。关键健康数据需通过密码或生物识别解锁，在关爱中守护家人的隐私尊严。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509000" y="3937000"/>
            <a:ext cx="3238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2D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699500" y="41275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9080500" y="4102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2B"/>
                </a:solidFill>
                <a:latin typeface="Noto Sans SC"/>
                <a:ea typeface="Noto Sans SC"/>
                <a:cs typeface="Noto Sans SC"/>
                <a:sym typeface="Noto Sans SC"/>
              </a:rPr>
              <a:t>全家健康总览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99500" y="4572000"/>
            <a:ext cx="2857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5746"/>
                </a:solidFill>
                <a:latin typeface="Noto Sans SC"/>
                <a:ea typeface="Noto Sans SC"/>
                <a:cs typeface="Noto Sans SC"/>
                <a:sym typeface="Noto Sans SC"/>
              </a:rPr>
              <a:t>一人绑定，全家数据集中管理。生成可视化的家庭健康档案，无论身在异地还是同城，打开APP即可纵览动态，让亲情关爱零距离。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3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3810000" cy="3810000"/>
          </a:xfrm>
          <a:prstGeom prst="ellipse">
            <a:avLst/>
          </a:prstGeom>
          <a:solidFill>
            <a:srgbClr val="EBC299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D9C8B8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8A898"/>
                </a:solidFill>
                <a:latin typeface="Noto Sans SC"/>
                <a:ea typeface="Noto Sans SC"/>
                <a:cs typeface="Noto Sans SC"/>
                <a:sym typeface="Noto Sans SC"/>
              </a:rPr>
              <a:t>01 / 背景与痛点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175000" y="711200"/>
            <a:ext cx="101600" cy="101600"/>
          </a:xfrm>
          <a:prstGeom prst="ellipse">
            <a:avLst/>
          </a:prstGeom>
          <a:solidFill>
            <a:srgbClr val="D9C8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1778000"/>
            <a:ext cx="10972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B4F3E"/>
                </a:solidFill>
                <a:latin typeface="Noto Sans SC"/>
                <a:ea typeface="Noto Sans SC"/>
                <a:cs typeface="Noto Sans SC"/>
                <a:sym typeface="Noto Sans SC"/>
              </a:rPr>
              <a:t>每一个数字背后，都是一个真实的人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3048000"/>
            <a:ext cx="10972800" cy="12700"/>
          </a:xfrm>
          <a:prstGeom prst="roundRect">
            <a:avLst>
              <a:gd name="adj" fmla="val 0"/>
            </a:avLst>
          </a:prstGeom>
          <a:solidFill>
            <a:srgbClr val="D9C8B8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3429000"/>
            <a:ext cx="685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786658"/>
                </a:solidFill>
                <a:latin typeface="Noto Sans SC"/>
                <a:ea typeface="Noto Sans SC"/>
                <a:cs typeface="Noto Sans SC"/>
                <a:sym typeface="Noto Sans SC"/>
              </a:rPr>
              <a:t>健康从来不是冰冷的数据堆砌，而是关乎生活质量与情感联结的底色。我们看见：父母面对体检报告时的欲言又止，子女想关心却不知如何开口的隔阂；年轻人在熬夜与自律之间的反复拉扯，以及那些想坚持健康习惯却败给忙碌的无奈。这些藏在指标背后的情绪与困境，才是我们真正要解决的核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3429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EBC299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91500" y="36703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8699500" y="35814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6B4F3E"/>
                </a:solidFill>
                <a:latin typeface="Noto Sans SC"/>
                <a:ea typeface="Noto Sans SC"/>
                <a:cs typeface="Noto Sans SC"/>
                <a:sym typeface="Noto Sans SC"/>
              </a:rPr>
              <a:t>代际情感的隔阂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8878"/>
                </a:solidFill>
                <a:latin typeface="Noto Sans SC"/>
                <a:ea typeface="Noto Sans SC"/>
                <a:cs typeface="Noto Sans SC"/>
                <a:sym typeface="Noto Sans SC"/>
              </a:rPr>
              <a:t>想关心却不知如何开口，爱在心口难开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4445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EBC299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191500" y="46863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99500" y="45974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6B4F3E"/>
                </a:solidFill>
                <a:latin typeface="Noto Sans SC"/>
                <a:ea typeface="Noto Sans SC"/>
                <a:cs typeface="Noto Sans SC"/>
                <a:sym typeface="Noto Sans SC"/>
              </a:rPr>
              <a:t>自律与现实的拉扯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8878"/>
                </a:solidFill>
                <a:latin typeface="Noto Sans SC"/>
                <a:ea typeface="Noto Sans SC"/>
                <a:cs typeface="Noto Sans SC"/>
                <a:sym typeface="Noto Sans SC"/>
              </a:rPr>
              <a:t>忙碌的生活挤压了健康空间，难以长期坚持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57785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A6918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让健康管理回归人本身，看见数据背后的故事与温度 ——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A955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EA955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EA955F">
                    <a:alpha val="3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0" y="8255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年轻人的孤独式健身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032000"/>
            <a:ext cx="109728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0554B"/>
                </a:solidFill>
                <a:latin typeface="Noto Sans SC"/>
                <a:ea typeface="Noto Sans SC"/>
                <a:cs typeface="Noto Sans SC"/>
                <a:sym typeface="Noto Sans SC"/>
              </a:rPr>
              <a:t>独居生活下的独自训练，往往缺少即时的正向激励与真实的进度反馈。没有同伴的相互督促，健身的惰性就像涨潮的海水，一浪接一浪地冲刷着最初的决心，让坚持变成一件需要极大意志力的苦差事。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3810000"/>
            <a:ext cx="5283200" cy="2159000"/>
          </a:xfrm>
          <a:prstGeom prst="roundRect">
            <a:avLst>
              <a:gd name="adj" fmla="val 0"/>
            </a:avLst>
          </a:prstGeom>
          <a:solidFill>
            <a:srgbClr val="EA955F">
              <a:alpha val="8000"/>
            </a:srgbClr>
          </a:solidFill>
          <a:ln cmpd="sng" cap="flat">
            <a:solidFill>
              <a:srgbClr val="D1784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14400" y="4127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25600" y="41275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缺少陪伴，训练成了独角戏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" y="4826000"/>
            <a:ext cx="4673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66C62"/>
                </a:solidFill>
                <a:latin typeface="Noto Sans SC"/>
                <a:ea typeface="Noto Sans SC"/>
                <a:cs typeface="Noto Sans SC"/>
                <a:sym typeface="Noto Sans SC"/>
              </a:rPr>
              <a:t>没有搭子的互相鼓励，练到力竭时只剩疲惫感；无人分享突破的喜悦，进步的成就感也大打折扣。健身不再是社交行为，而变成了一场孤独的自我拉扯，动力很容易在沉默中耗尽。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99200" y="3810000"/>
            <a:ext cx="5283200" cy="2159000"/>
          </a:xfrm>
          <a:prstGeom prst="roundRect">
            <a:avLst>
              <a:gd name="adj" fmla="val 0"/>
            </a:avLst>
          </a:prstGeom>
          <a:solidFill>
            <a:srgbClr val="EA955F">
              <a:alpha val="8000"/>
            </a:srgbClr>
          </a:solidFill>
          <a:ln cmpd="sng" cap="flat">
            <a:solidFill>
              <a:srgbClr val="D1784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4127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315200" y="41275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难以坚持，计划总败给惰性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4826000"/>
            <a:ext cx="4673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66C62"/>
                </a:solidFill>
                <a:latin typeface="Noto Sans SC"/>
                <a:ea typeface="Noto Sans SC"/>
                <a:cs typeface="Noto Sans SC"/>
                <a:sym typeface="Noto Sans SC"/>
              </a:rPr>
              <a:t>缺少外部监督的反馈机制，很容易给自己找借口“明天再练”。当训练变成无人知晓的秘密，放弃的成本就变得极低，热情也在一次次拖延中消磨殆尽，最终让健身计划永远停留在了收藏夹里。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A87E59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A87E59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A87E59"/>
                </a:solidFill>
                <a:latin typeface="Noto Sans SC"/>
                <a:ea typeface="Noto Sans SC"/>
                <a:cs typeface="Noto Sans SC"/>
                <a:sym typeface="Noto Sans SC"/>
              </a:rPr>
              <a:t># 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子女的远距离牵挂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1117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频繁的电话询问总怕打扰到父母的日常，欲言又止的关心容易造成彼此的尴尬；可一旦疏于问候，内心又会被深深的内疚感包裹。更令人揪心的是，父母总习惯报喜不报忧，等到健康问题被发现时，往往已经错过了最佳的干预时机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556000"/>
            <a:ext cx="5397500" cy="2222500"/>
          </a:xfrm>
          <a:prstGeom prst="roundRect">
            <a:avLst>
              <a:gd name="adj" fmla="val 0"/>
            </a:avLst>
          </a:prstGeom>
          <a:solidFill>
            <a:srgbClr val="E6DAC9">
              <a:alpha val="30000"/>
            </a:srgbClr>
          </a:solidFill>
          <a:ln w="12700" cmpd="sng" cap="flat">
            <a:solidFill>
              <a:srgbClr val="A87E5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38100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835400"/>
            <a:ext cx="4254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异地分居：空间阻隔了即时的爱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45000"/>
            <a:ext cx="488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相隔千里的城市，让日常的嘘寒问暖变成了小心翼翼的“打卡”。想多问一句怕打扰，少问一句又担心，这种无形的“边界感”让亲情的表达变得笨拙，也让父母的真实生活状态成了模糊的拼图。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3556000"/>
            <a:ext cx="5397500" cy="2222500"/>
          </a:xfrm>
          <a:prstGeom prst="roundRect">
            <a:avLst>
              <a:gd name="adj" fmla="val 0"/>
            </a:avLst>
          </a:prstGeom>
          <a:solidFill>
            <a:srgbClr val="E6DAC9">
              <a:alpha val="30000"/>
            </a:srgbClr>
          </a:solidFill>
          <a:ln w="12700" cmpd="sng" cap="flat">
            <a:solidFill>
              <a:srgbClr val="A87E5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3810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75500" y="3835400"/>
            <a:ext cx="4254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难以开口：隐患藏在报喜不报忧中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4445000"/>
            <a:ext cx="488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父母习惯将病痛和烦恼独自扛下，子女的关心往往停留在“吃了吗”的表面寒暄。当身体的小信号被忽视，等到真正暴露时已是大问题，这份“后知后觉”成为了每个远游子心中最深的遗憾与愧疚。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6032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“ 这份牵挂，从来都不是简单的一句‘我很好’就能抚平的焦虑 ”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4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EB88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DEB88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A67C52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 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A3B2A"/>
                </a:solidFill>
                <a:latin typeface="Noto Sans SC"/>
                <a:ea typeface="Noto Sans SC"/>
                <a:cs typeface="Noto Sans SC"/>
                <a:sym typeface="Noto Sans SC"/>
              </a:rPr>
              <a:t>长辈的隐私焦虑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755F4B"/>
                </a:solidFill>
                <a:latin typeface="Noto Sans SC"/>
                <a:ea typeface="Noto Sans SC"/>
                <a:cs typeface="Noto Sans SC"/>
                <a:sym typeface="Noto Sans SC"/>
              </a:rPr>
              <a:t>主流 App 强制要求绑定云端账号，打破了中老年群体“本地存储即安全”的传统认知，引发强烈的心理抵触。健康指标、日常轨迹等极度私密的个人数据，本应是独属于自己的生活印记，却因数字工具的硬性要求，让长辈陷入对信息失控的深深忧虑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429000"/>
            <a:ext cx="5461000" cy="2286000"/>
          </a:xfrm>
          <a:prstGeom prst="roundRect">
            <a:avLst>
              <a:gd name="adj" fmla="val 0"/>
            </a:avLst>
          </a:prstGeom>
          <a:solidFill>
            <a:srgbClr val="DEB887">
              <a:alpha val="15000"/>
            </a:srgbClr>
          </a:solidFill>
          <a:ln w="12700" cmpd="sng" cap="flat">
            <a:solidFill>
              <a:srgbClr val="A67C5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3683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683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不愿注册：拒绝“数字绑架”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2545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D5544"/>
                </a:solidFill>
                <a:latin typeface="Noto Sans SC"/>
                <a:ea typeface="Noto Sans SC"/>
                <a:cs typeface="Noto Sans SC"/>
                <a:sym typeface="Noto Sans SC"/>
              </a:rPr>
              <a:t>对陌生的账号体系天然排斥，认为“注册=被监视”。强制填写身份证、绑定手机号的要求，让他们觉得个人信息被过度索取，宁可放弃便捷功能，也不愿向平台妥协，这成为了他们融入数字生活的第一道心理门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3429000"/>
            <a:ext cx="5461000" cy="2286000"/>
          </a:xfrm>
          <a:prstGeom prst="roundRect">
            <a:avLst>
              <a:gd name="adj" fmla="val 0"/>
            </a:avLst>
          </a:prstGeom>
          <a:solidFill>
            <a:srgbClr val="DEB887">
              <a:alpha val="15000"/>
            </a:srgbClr>
          </a:solidFill>
          <a:ln w="12700" cmpd="sng" cap="flat">
            <a:solidFill>
              <a:srgbClr val="A67C5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368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048500" y="3683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担心泄露：守护“数据底线”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42545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D5544"/>
                </a:solidFill>
                <a:latin typeface="Noto Sans SC"/>
                <a:ea typeface="Noto Sans SC"/>
                <a:cs typeface="Noto Sans SC"/>
                <a:sym typeface="Noto Sans SC"/>
              </a:rPr>
              <a:t>看不懂冗长晦涩的隐私政策，却深知健康数据的珍贵与敏感。他们担心血压、血糖等身体记录被云端收集后滥用，甚至成为诈骗分子的精准“突破口”。这种对数据失控的恐惧，让他们始终对智能设备保持着本能的警惕与距离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5969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06E3C"/>
                </a:solidFill>
                <a:latin typeface="Noto Sans SC"/>
                <a:ea typeface="Noto Sans SC"/>
                <a:cs typeface="Noto Sans SC"/>
                <a:sym typeface="Noto Sans SC"/>
              </a:rPr>
              <a:t>“ 隐私安全感，是长辈愿意拥抱智能生活的前提与底线。”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8DBCC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E8DBCC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A67C52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 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524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362B"/>
                </a:solidFill>
                <a:latin typeface="Noto Sans SC"/>
                <a:ea typeface="Noto Sans SC"/>
                <a:cs typeface="Noto Sans SC"/>
                <a:sym typeface="Noto Sans SC"/>
              </a:rPr>
              <a:t>健康工具的场景割裂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413000"/>
            <a:ext cx="1097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E594B"/>
                </a:solidFill>
                <a:latin typeface="Noto Sans SC"/>
                <a:ea typeface="Noto Sans SC"/>
                <a:cs typeface="Noto Sans SC"/>
                <a:sym typeface="Noto Sans SC"/>
              </a:rPr>
              <a:t>健身与健康管理工具割裂，缺少代际数据联动与情感连接，两代人各用各的。家庭健康数据分散在不同平台形成“信息孤岛”，不仅阻碍了全周期健康管理的实现，更让亲情关怀在数字时代出现断层。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35560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E8DBCC">
              <a:alpha val="50000"/>
            </a:srgbClr>
          </a:solidFill>
          <a:ln w="12700" cmpd="sng" cap="flat">
            <a:solidFill>
              <a:srgbClr val="C1A7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14400" y="3873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7465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C40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数据孤岛：平台壁垒难互通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785F50"/>
                </a:solidFill>
                <a:latin typeface="Noto Sans SC"/>
                <a:ea typeface="Noto Sans SC"/>
                <a:cs typeface="Noto Sans SC"/>
                <a:sym typeface="Noto Sans SC"/>
              </a:rPr>
              <a:t>体检报告、运动数据、慢病记录分散在不同App，格式不统一且互不兼容，无法自动同步汇总，导致家庭健康档案碎片化，难以形成完整的健康画像。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48400" y="35560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E8DBCC">
              <a:alpha val="50000"/>
            </a:srgbClr>
          </a:solidFill>
          <a:ln w="12700" cmpd="sng" cap="flat">
            <a:solidFill>
              <a:srgbClr val="C1A7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53200" y="3873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289800" y="37465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C4033"/>
                </a:solidFill>
                <a:latin typeface="Noto Sans SC"/>
                <a:ea typeface="Noto Sans SC"/>
                <a:cs typeface="Noto Sans SC"/>
                <a:sym typeface="Noto Sans SC"/>
              </a:rPr>
              <a:t>情感断层：工具冰冷无温度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785F50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工具仅聚焦数据记录与指标监控，缺乏代际关怀的交互设计。子女无法及时收到父母的健康预警，父母也难以参与到子女的运动鼓励中，健康管理沦为单向的数字记录而非双向的情感连接。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5524500"/>
            <a:ext cx="10972800" cy="762000"/>
          </a:xfrm>
          <a:prstGeom prst="roundRect">
            <a:avLst>
              <a:gd name="adj" fmla="val 0"/>
            </a:avLst>
          </a:prstGeom>
          <a:solidFill>
            <a:srgbClr val="C1A78C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55245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0372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核心症结：工具属性压倒情感属性，健康管理变成了“一个人的数字游戏”，而非家庭的共同守护。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7CCC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E6B478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D6E63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E342E"/>
                </a:solidFill>
                <a:latin typeface="Noto Sans SC"/>
                <a:ea typeface="Noto Sans SC"/>
                <a:cs typeface="Noto Sans SC"/>
                <a:sym typeface="Noto Sans SC"/>
              </a:rPr>
              <a:t>健康信息的真假难辨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225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755E59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打开手机一搜全是广告和营销号，想了解基础健康知识却屡屡踩坑。碎片化的信息让真相被淹没，缺乏辨别能力的长辈尤其容易成为虚假信息的受害者，不仅破财更可能因延误正规治疗而危害健康。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175000"/>
            <a:ext cx="1778000" cy="457200"/>
          </a:xfrm>
          <a:prstGeom prst="roundRect">
            <a:avLst>
              <a:gd name="adj" fmla="val 0"/>
            </a:avLst>
          </a:prstGeom>
          <a:solidFill>
            <a:srgbClr val="BCAAA4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D4C41"/>
                </a:solidFill>
                <a:latin typeface="Noto Sans SC"/>
                <a:ea typeface="Noto Sans SC"/>
                <a:cs typeface="Noto Sans SC"/>
                <a:sym typeface="Noto Sans SC"/>
              </a:rPr>
              <a:t># 信息过载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3175000"/>
            <a:ext cx="1778000" cy="457200"/>
          </a:xfrm>
          <a:prstGeom prst="roundRect">
            <a:avLst>
              <a:gd name="adj" fmla="val 0"/>
            </a:avLst>
          </a:prstGeom>
          <a:solidFill>
            <a:srgbClr val="BCAAA4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D4C41"/>
                </a:solidFill>
                <a:latin typeface="Noto Sans SC"/>
                <a:ea typeface="Noto Sans SC"/>
                <a:cs typeface="Noto Sans SC"/>
                <a:sym typeface="Noto Sans SC"/>
              </a:rPr>
              <a:t># 真伪混杂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393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8D6E63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4191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19200" y="419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营销软文泛滥成灾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762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B7355"/>
                </a:solidFill>
                <a:latin typeface="Noto Sans SC"/>
                <a:ea typeface="Noto Sans SC"/>
                <a:cs typeface="Noto Sans SC"/>
                <a:sym typeface="Noto Sans SC"/>
              </a:rPr>
              <a:t>自媒体为流量编造“神药”神话，伪科学披着科普外衣大肆传播。真正的医学常识被淹没，健康话题沦为商业营销的重灾区。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0" y="393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8D6E63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4191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029200" y="419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长辈成为受骗重灾区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4762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B7355"/>
                </a:solidFill>
                <a:latin typeface="Noto Sans SC"/>
                <a:ea typeface="Noto Sans SC"/>
                <a:cs typeface="Noto Sans SC"/>
                <a:sym typeface="Noto Sans SC"/>
              </a:rPr>
              <a:t>对健康的焦虑与渴望被不法分子利用，轻信“专家”背书与虚假“治愈案例”。缺乏网络信息辨别能力，让长辈成为虚假保健品的主要收割对象。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8D6E63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4191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39200" y="419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权威信息获取门槛高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4762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B735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专业医学文献晦涩难懂，搜索引擎结果被商业推广霸屏。普通人难以快速筛选出真实可靠的权威知识，在信息迷雾中无所适从。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144000" y="-1524000"/>
            <a:ext cx="4064000" cy="4064000"/>
          </a:xfrm>
          <a:prstGeom prst="ellipse">
            <a:avLst/>
          </a:prstGeom>
          <a:solidFill>
            <a:srgbClr val="EAB308">
              <a:alpha val="8000"/>
            </a:srgbClr>
          </a:solidFill>
          <a:ln cmpd="sng" cap="flat">
            <a:solidFill>
              <a:srgbClr val="D19E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826000"/>
            <a:ext cx="3556000" cy="3556000"/>
          </a:xfrm>
          <a:prstGeom prst="ellipse">
            <a:avLst/>
          </a:prstGeom>
          <a:solidFill>
            <a:srgbClr val="EC4899">
              <a:alpha val="6000"/>
            </a:srgbClr>
          </a:solidFill>
          <a:ln cmpd="sng" cap="flat">
            <a:solidFill>
              <a:srgbClr val="D32B7E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63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 spc="400">
                <a:solidFill>
                  <a:srgbClr val="A67C52"/>
                </a:solidFill>
                <a:latin typeface="Heebo"/>
                <a:ea typeface="Heebo"/>
                <a:cs typeface="Heebo"/>
                <a:sym typeface="Heebo"/>
              </a:rPr>
              <a:t>SOLUTION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1270000"/>
            <a:ext cx="1092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4B3C32"/>
                </a:solidFill>
                <a:latin typeface="Noto Sans SC"/>
                <a:ea typeface="Noto Sans SC"/>
                <a:cs typeface="Noto Sans SC"/>
                <a:sym typeface="Noto Sans SC"/>
              </a:rPr>
              <a:t>用一个 App，缝合两代人的健康孤岛。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826446"/>
                </a:solidFill>
                <a:latin typeface="Noto Sans SC"/>
                <a:ea typeface="Noto Sans SC"/>
                <a:cs typeface="Noto Sans SC"/>
                <a:sym typeface="Noto Sans SC"/>
              </a:rPr>
              <a:t>年轻人练得有动力，长辈记着不费力，子女看着不焦虑——一切发生在本地，私密且温暖。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368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9ECDB">
              <a:alpha val="100000"/>
            </a:srgbClr>
          </a:solidFill>
          <a:ln cmpd="sng" cap="flat">
            <a:solidFill>
              <a:srgbClr val="E0CAA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3937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96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785032"/>
                </a:solidFill>
                <a:latin typeface="Noto Sans SC"/>
                <a:ea typeface="Noto Sans SC"/>
                <a:cs typeface="Noto Sans SC"/>
                <a:sym typeface="Noto Sans SC"/>
              </a:rPr>
              <a:t>年轻一代 · 运动有伴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946" flipH="false" flipV="false">
            <a:off x="8890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770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89000" y="4635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E5A46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社交化打卡与趣味挑战，将个人健康变成朋友圈的正向互动。在这里，自律不再是苦行，而是一场和朋友一起奔赴的温暖约定。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368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5E8E8">
              <a:alpha val="100000"/>
            </a:srgbClr>
          </a:solidFill>
          <a:ln cmpd="sng" cap="flat">
            <a:solidFill>
              <a:srgbClr val="DCBA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3937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43500" y="396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785032"/>
                </a:solidFill>
                <a:latin typeface="Noto Sans SC"/>
                <a:ea typeface="Noto Sans SC"/>
                <a:cs typeface="Noto Sans SC"/>
                <a:sym typeface="Noto Sans SC"/>
              </a:rPr>
              <a:t>长辈群体 · 轻松上手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946" flipH="false" flipV="false">
            <a:off x="46355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277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35500" y="4635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E5A46"/>
                </a:solidFill>
                <a:latin typeface="Noto Sans SC"/>
                <a:ea typeface="Noto Sans SC"/>
                <a:cs typeface="Noto Sans SC"/>
                <a:sym typeface="Noto Sans SC"/>
              </a:rPr>
              <a:t>专为银发族打造的适老化界面，去除复杂操作，保留核心功能。语音播报与大字提醒，让健康记录像家常话一样自然，零门槛融入日常。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68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FF2E5">
              <a:alpha val="100000"/>
            </a:srgbClr>
          </a:solidFill>
          <a:ln cmpd="sng" cap="flat">
            <a:solidFill>
              <a:srgbClr val="D1D8B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3937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90000" y="396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785032"/>
                </a:solidFill>
                <a:latin typeface="Noto Sans SC"/>
                <a:ea typeface="Noto Sans SC"/>
                <a:cs typeface="Noto Sans SC"/>
                <a:sym typeface="Noto Sans SC"/>
              </a:rPr>
              <a:t>子女视角 · 远程安心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3820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4635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E5A46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无需时刻追问，系统自动同步健康周报。异常数据实时预警，让千里之外的牵挂变得具体而安心，重新连接起因距离疏远的亲情纽带。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" y="6096000"/>
            <a:ext cx="10922000" cy="457200"/>
          </a:xfrm>
          <a:prstGeom prst="roundRect">
            <a:avLst>
              <a:gd name="adj" fmla="val 0"/>
            </a:avLst>
          </a:prstGeom>
          <a:solidFill>
            <a:srgbClr val="A67C52">
              <a:alpha val="10000"/>
            </a:srgbClr>
          </a:solidFill>
          <a:ln cmpd="sng" cap="flat">
            <a:solidFill>
              <a:srgbClr val="8C6237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" y="6172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8C643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核心价值：本地部署保障数据绝对私密，极简设计打破数字鸿沟，让健康管理成为家庭情感的粘合剂。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9C46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A1887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B7B6B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核心功能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524000"/>
            <a:ext cx="10972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一个 App，两种陪伴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794000"/>
            <a:ext cx="1097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点击上方模拟机底部 Tab，或在下方切换模式查看功能详情。所有功能均已 100% 实现，涵盖从科学训练指导到全天候健康守护的全场景需求，为用户提供无缝衔接的智能体验。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3937000"/>
            <a:ext cx="5283200" cy="1714500"/>
          </a:xfrm>
          <a:prstGeom prst="roundRect">
            <a:avLst>
              <a:gd name="adj" fmla="val 0"/>
            </a:avLst>
          </a:prstGeom>
          <a:solidFill>
            <a:srgbClr val="FFF8E1">
              <a:alpha val="100000"/>
            </a:srgbClr>
          </a:solidFill>
          <a:ln w="25400" cmpd="sng" cap="flat">
            <a:solidFill>
              <a:srgbClr val="FFB74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14400" y="41910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216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F6C00"/>
                </a:solidFill>
                <a:latin typeface="Noto Sans SC"/>
                <a:ea typeface="Noto Sans SC"/>
                <a:cs typeface="Noto Sans SC"/>
                <a:sym typeface="Noto Sans SC"/>
              </a:rPr>
              <a:t>健身模式 Fitness Mode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" y="4762500"/>
            <a:ext cx="4673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内置 AI 动态私教算法，基于体能数据定制专属训练计划，实时监测心率与消耗，让每一次挥汗都科学有效。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99200" y="3937000"/>
            <a:ext cx="5283200" cy="1714500"/>
          </a:xfrm>
          <a:prstGeom prst="roundRect">
            <a:avLst>
              <a:gd name="adj" fmla="val 0"/>
            </a:avLst>
          </a:prstGeom>
          <a:solidFill>
            <a:srgbClr val="F3E5F5">
              <a:alpha val="40000"/>
            </a:srgbClr>
          </a:solidFill>
          <a:ln w="12700" cmpd="sng" cap="flat">
            <a:solidFill>
              <a:srgbClr val="BA6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4191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213600" y="4216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9C27B0"/>
                </a:solidFill>
                <a:latin typeface="Noto Sans SC"/>
                <a:ea typeface="Noto Sans SC"/>
                <a:cs typeface="Noto Sans SC"/>
                <a:sym typeface="Noto Sans SC"/>
              </a:rPr>
              <a:t>守护模式 Guardian Mode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4762500"/>
            <a:ext cx="4673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24小时自动监测睡眠、心率及压力值，异常情况智能预警，支持亲友数据共享，远程关爱触手可及。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59690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操作指引：点击卡片区域或底部 Tab 即可切换查看详细功能演示，探索更多隐藏玩法。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8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AB30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3175000" cy="3175000"/>
          </a:xfrm>
          <a:prstGeom prst="ellipse">
            <a:avLst/>
          </a:prstGeom>
          <a:solidFill>
            <a:srgbClr val="EAB30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318000" y="508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FEF3C7">
              <a:alpha val="100000"/>
            </a:srgbClr>
          </a:solidFill>
          <a:ln w="12700" cmpd="sng" cap="flat">
            <a:solidFill>
              <a:srgbClr val="D9770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318000" y="5080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健身模式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4000" y="508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5080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守护模式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1270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健身模式 · 自我成长管理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190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清晰反馈 · 正向激励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349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专为年轻人设计，主打清晰反馈与正向激励。让每一次坚持都被看见，让每一滴汗水都有回响，在数据与成就中见证更好的自己。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29845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11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F1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身体基础档案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5560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自动录入身高、体重、年龄与性别，智能计算BMI指数与基础代谢率(BMR)，为您生成专属的身体数据基线，科学评估健康状态。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216400"/>
            <a:ext cx="2032000" cy="2794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216400"/>
            <a:ext cx="203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BMI 自动计算 ✅ 已实现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29845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11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F2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健身计划打卡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35560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内置3套7天入门级居家方案，覆盖全身燃脂与塑形需求。训练后支持一键打卡，并随机触发个性化趣味激励语，让坚持更有动力。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216400"/>
            <a:ext cx="1778000" cy="2794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2164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3 套方案 ✅ 已实现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1500" y="4826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953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F3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运动数据可视化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3975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直观呈现连续打卡天数、周/月度计划完成率，通过动态折线图清晰展示体重与维度变化趋势，每一份付出都能看见可视化的成果。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6057900"/>
            <a:ext cx="1778000" cy="2794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60579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动态图表 ✅ 已实现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86500" y="4826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953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F4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成就勋章系统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53975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达成连续打卡、目标突破等里程碑即可解锁专属荣誉勋章，数据本地永久保存不丢失，支持一键分享至社交平台，秀出你的坚持。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6057900"/>
            <a:ext cx="1778000" cy="2794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60579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勋章永久保存 ✅ 已实现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A703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EA703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2032000" cy="508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健身模式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921000" y="508000"/>
            <a:ext cx="2032000" cy="508000"/>
          </a:xfrm>
          <a:prstGeom prst="roundRect">
            <a:avLst>
              <a:gd name="adj" fmla="val 0"/>
            </a:avLst>
          </a:prstGeom>
          <a:solidFill>
            <a:srgbClr val="EA703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守护模式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270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守护模式 · 长辈健康远程守护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05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A703E"/>
                </a:solidFill>
                <a:latin typeface="Noto Sans SC"/>
                <a:ea typeface="Noto Sans SC"/>
                <a:cs typeface="Noto Sans SC"/>
                <a:sym typeface="Noto Sans SC"/>
              </a:rPr>
              <a:t>默默关注，安心守护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13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专为家庭代际关怀设计，打破距离限制，让子女能默默关注长辈健康状况，做到不打扰生活却时刻安心，构建温暖的家庭健康防护网。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11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A703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87500" y="3327400"/>
            <a:ext cx="431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家人健康档案 · 统一管理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7846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支持多位家人健康信息集中建档，病史、用药清单、体检报告云端归档，全家人的健康状况一目了然，拒绝信息零散。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292600"/>
            <a:ext cx="1651000" cy="254000"/>
          </a:xfrm>
          <a:prstGeom prst="roundRect">
            <a:avLst>
              <a:gd name="adj" fmla="val 0"/>
            </a:avLst>
          </a:prstGeom>
          <a:solidFill>
            <a:srgbClr val="EA703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703E"/>
                </a:solidFill>
                <a:latin typeface="Noto Sans SC"/>
                <a:ea typeface="Noto Sans SC"/>
                <a:cs typeface="Noto Sans SC"/>
                <a:sym typeface="Noto Sans SC"/>
              </a:rPr>
              <a:t>多人管理 ✅ 已实现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59500" y="3111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A703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13500" y="3302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3327400"/>
            <a:ext cx="431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服药打卡提醒 · 智能督促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37846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自定义个性化服药计划，系统多时段准时推送提醒，长辈打卡状态实时同步至子女端，贴心守护用药安全，避免漏服。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4292600"/>
            <a:ext cx="1651000" cy="254000"/>
          </a:xfrm>
          <a:prstGeom prst="roundRect">
            <a:avLst>
              <a:gd name="adj" fmla="val 0"/>
            </a:avLst>
          </a:prstGeom>
          <a:solidFill>
            <a:srgbClr val="EA703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703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智能提醒 ✅ 已实现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A703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87500" y="5041900"/>
            <a:ext cx="431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血压心率记录 · 趋势追踪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4991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一键录入每日健康数据，异常数值自动标红预警，生成直观的周/月度趋势图表，让你随时掌握长辈身体指标的细微变化。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6007100"/>
            <a:ext cx="1651000" cy="254000"/>
          </a:xfrm>
          <a:prstGeom prst="roundRect">
            <a:avLst>
              <a:gd name="adj" fmla="val 0"/>
            </a:avLst>
          </a:prstGeom>
          <a:solidFill>
            <a:srgbClr val="EA703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703E"/>
                </a:solidFill>
                <a:latin typeface="Noto Sans SC"/>
                <a:ea typeface="Noto Sans SC"/>
                <a:cs typeface="Noto Sans SC"/>
                <a:sym typeface="Noto Sans SC"/>
              </a:rPr>
              <a:t>异常预警 ✅ 已实现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1595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A703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13500" y="5016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85000" y="5041900"/>
            <a:ext cx="431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数据加密同步 · 隐私无忧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13500" y="54991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采用银行级AES-256加密技术，健康数据全程加密存储与传输，子女端需授权方可查看，从技术底层保障家庭隐私安全。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13500" y="6007100"/>
            <a:ext cx="1651000" cy="254000"/>
          </a:xfrm>
          <a:prstGeom prst="roundRect">
            <a:avLst>
              <a:gd name="adj" fmla="val 0"/>
            </a:avLst>
          </a:prstGeom>
          <a:solidFill>
            <a:srgbClr val="EA703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703E"/>
                </a:solidFill>
                <a:latin typeface="Noto Sans SC"/>
                <a:ea typeface="Noto Sans SC"/>
                <a:cs typeface="Noto Sans SC"/>
                <a:sym typeface="Noto Sans SC"/>
              </a:rPr>
              <a:t>隐私保护 ✅ 已实现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3810000" cy="3810000"/>
          </a:xfrm>
          <a:prstGeom prst="ellipse">
            <a:avLst/>
          </a:prstGeom>
          <a:solidFill>
            <a:srgbClr val="E6DBC8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E6DBC8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03 / 隐私与安全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270000"/>
            <a:ext cx="1097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你的数据，只属于你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286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我们坚持零后端架构，所有数据保存在你的设备本地，从根源上规避云端泄露风险；文件导入导出均采用 AES-256 金融级加密标准，让数据安全坚不可摧。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3238500"/>
            <a:ext cx="10972800" cy="825500"/>
          </a:xfrm>
          <a:prstGeom prst="roundRect">
            <a:avLst>
              <a:gd name="adj" fmla="val 0"/>
            </a:avLst>
          </a:prstGeom>
          <a:solidFill>
            <a:srgbClr val="EFEBE9">
              <a:alpha val="10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" y="3403600"/>
            <a:ext cx="104648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6D4C41"/>
                </a:solidFill>
                <a:latin typeface="Noto Sans SC"/>
                <a:ea typeface="Noto Sans SC"/>
                <a:cs typeface="Noto Sans SC"/>
                <a:sym typeface="Noto Sans SC"/>
              </a:rPr>
              <a:t>“你的数据，只在你的设备里，从生成、存储到分析，每一步都由你完全掌控，我们绝不触碰、绝不收集、绝不用于任何商业分析。”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4318000"/>
            <a:ext cx="3454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45212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19200" y="45212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本地存储，数据不离身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4953000"/>
            <a:ext cx="304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采用零后端架构，所有健康数据仅留存于设备本地，不经过任何云端服务器中转，从物理层面杜绝数据泄露可能。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68800" y="4318000"/>
            <a:ext cx="3454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45212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978400" y="45212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AES-256 金融级加密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4953000"/>
            <a:ext cx="304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数据存储与传输均采用银行级加密标准，即使文件意外丢失，也无法被第三方破解或还原，安全防护无懈可击。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4318000"/>
            <a:ext cx="3454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31200" y="45212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37600" y="45212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无注册，无信息收集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31200" y="4953000"/>
            <a:ext cx="304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无需手机号或邮箱注册，不收集任何个人身份信息；AI 推理在设备端离线完成，不上传任何原始数据。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0" y="-1270000"/>
            <a:ext cx="5080000" cy="5080000"/>
          </a:xfrm>
          <a:prstGeom prst="ellipse">
            <a:avLst/>
          </a:prstGeom>
          <a:solidFill>
            <a:srgbClr val="D7CCC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BCAAA4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三层防护体系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3556000" cy="3175000"/>
          </a:xfrm>
          <a:prstGeom prst="roundRect">
            <a:avLst>
              <a:gd name="adj" fmla="val 0"/>
            </a:avLst>
          </a:prstGeom>
          <a:solidFill>
            <a:srgbClr val="EFEBE9">
              <a:alpha val="100000"/>
            </a:srgbClr>
          </a:solidFill>
          <a:ln cmpd="sng" cap="flat">
            <a:solidFill>
              <a:srgbClr val="D5C4B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8D6E63"/>
                </a:solidFill>
                <a:latin typeface="Consolas"/>
                <a:ea typeface="Consolas"/>
                <a:cs typeface="Consolas"/>
                <a:sym typeface="Consolas"/>
              </a:rPr>
              <a:t>L01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302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62000" y="273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本地离线存储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76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CAAA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34925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Hive NoSQL 纯 Dart 实现的嵌入式存储，所有敏感数据仅留存本地设备，物理隔绝云端泄露风险，保障数据绝对私有。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76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⚡ 亮点：毫秒级读写，无IO阻塞，低功耗适配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778000"/>
            <a:ext cx="3556000" cy="3175000"/>
          </a:xfrm>
          <a:prstGeom prst="roundRect">
            <a:avLst>
              <a:gd name="adj" fmla="val 0"/>
            </a:avLst>
          </a:prstGeom>
          <a:solidFill>
            <a:srgbClr val="D7CCC8">
              <a:alpha val="100000"/>
            </a:srgbClr>
          </a:solidFill>
          <a:ln cmpd="sng" cap="flat">
            <a:solidFill>
              <a:srgbClr val="BEA69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03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5D4037"/>
                </a:solidFill>
                <a:latin typeface="Consolas"/>
                <a:ea typeface="Consolas"/>
                <a:cs typeface="Consolas"/>
                <a:sym typeface="Consolas"/>
              </a:rPr>
              <a:t>L02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112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72000" y="273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AES-256 加密流转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323" flipH="false" flipV="false">
            <a:off x="457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D6E63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34925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文件传输与备份迁移全程采用军工级 AES-256 算法加密，密钥仅由用户持有，即使物理介质丢失也无法解析原始数据。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476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🔒 亮点：端到端加密，杜绝中间人攻击与截获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778000"/>
            <a:ext cx="3556000" cy="3175000"/>
          </a:xfrm>
          <a:prstGeom prst="roundRect">
            <a:avLst>
              <a:gd name="adj" fmla="val 0"/>
            </a:avLst>
          </a:prstGeom>
          <a:solidFill>
            <a:srgbClr val="BCAAA4">
              <a:alpha val="100000"/>
            </a:srgbClr>
          </a:solidFill>
          <a:ln cmpd="sng" cap="flat">
            <a:solidFill>
              <a:srgbClr val="A387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203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E2723"/>
                </a:solidFill>
                <a:latin typeface="Consolas"/>
                <a:ea typeface="Consolas"/>
                <a:cs typeface="Consolas"/>
                <a:sym typeface="Consolas"/>
              </a:rPr>
              <a:t>L03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922000" y="2032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382000" y="273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局域网无感同步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838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D403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382000" y="34925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WiFi P2P 直连技术，数据流转全程不出内网，不经过任何公网服务器中转，彻底避免网络监听与数据泄露。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82000" y="476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📡 亮点：低延迟自动发现，近距离设备极速同步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8000" y="5461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4E342E">
              <a:alpha val="100000"/>
            </a:srgbClr>
          </a:solidFill>
          <a:ln cmpd="sng" cap="flat">
            <a:solidFill>
              <a:srgbClr val="351F1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8500" y="56515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E0B2"/>
                </a:solidFill>
                <a:latin typeface="Consolas"/>
                <a:ea typeface="Consolas"/>
                <a:cs typeface="Consolas"/>
                <a:sym typeface="Consolas"/>
              </a:rPr>
              <a:t>$ flutter analyze —— 零语法错误 · 零静态警告 · 严格 Null Safety 校验 · 100% 类型安全保障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DF8F2">
                <a:alpha val="100000"/>
              </a:srgbClr>
            </a:gs>
            <a:gs pos="100000">
              <a:srgbClr val="F5EBE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0" y="-1270000"/>
            <a:ext cx="5080000" cy="5080000"/>
          </a:xfrm>
          <a:prstGeom prst="ellipse">
            <a:avLst/>
          </a:prstGeom>
          <a:solidFill>
            <a:srgbClr val="FFE0B2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E3BC9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A2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 / 三大新功能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143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E342E"/>
                </a:solidFill>
                <a:latin typeface="Noto Sans SC"/>
                <a:ea typeface="Noto Sans SC"/>
                <a:cs typeface="Noto Sans SC"/>
                <a:sym typeface="Noto Sans SC"/>
              </a:rPr>
              <a:t>从「能用」到好用且温暖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0955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755C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基于初赛核心功能，我们规划了三个方向的深度进化——让急救更快速、让关怀更细腻、让智能更贴心。每一处细节的打磨，都是为了将科技的冰冷转化为守护的温度，为生命安全筑起更坚实的防线。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302000"/>
            <a:ext cx="3556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E6B48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609600" cy="609600"/>
          </a:xfrm>
          <a:prstGeom prst="ellipse">
            <a:avLst/>
          </a:prstGeom>
          <a:solidFill>
            <a:srgbClr val="EF6C5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3683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657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E342E"/>
                </a:solidFill>
                <a:latin typeface="Noto Sans SC"/>
                <a:ea typeface="Noto Sans SC"/>
                <a:cs typeface="Noto Sans SC"/>
                <a:sym typeface="Noto Sans SC"/>
              </a:rPr>
              <a:t>01 极速响应体系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18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重构呼救链路与定位算法，将信息传递延迟压缩至秒级。打通院前急救的「黄金时间」通道，用速度为生命争取每一秒的希望。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3302000"/>
            <a:ext cx="3556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E6B48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3556000"/>
            <a:ext cx="609600" cy="609600"/>
          </a:xfrm>
          <a:prstGeom prst="ellipse">
            <a:avLst/>
          </a:prstGeom>
          <a:solidFill>
            <a:srgbClr val="FF980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3683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70500" y="3657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E342E"/>
                </a:solidFill>
                <a:latin typeface="Noto Sans SC"/>
                <a:ea typeface="Noto Sans SC"/>
                <a:cs typeface="Noto Sans SC"/>
                <a:sym typeface="Noto Sans SC"/>
              </a:rPr>
              <a:t>02 全维温情关怀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4318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不只关注生理急救，更兼顾心理安抚。提供全程语音陪伴与专业指引，让冰冷的紧急时刻充满人性的温度，缓解用户的恐惧与焦虑。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302000"/>
            <a:ext cx="3556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E6B48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3556000"/>
            <a:ext cx="609600" cy="609600"/>
          </a:xfrm>
          <a:prstGeom prst="ellipse">
            <a:avLst/>
          </a:prstGeom>
          <a:solidFill>
            <a:srgbClr val="66BB6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09000" y="36830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080500" y="3657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E342E"/>
                </a:solidFill>
                <a:latin typeface="Noto Sans SC"/>
                <a:ea typeface="Noto Sans SC"/>
                <a:cs typeface="Noto Sans SC"/>
                <a:sym typeface="Noto Sans SC"/>
              </a:rPr>
              <a:t>03 主动智能预判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4318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基于AI大数据模型，实现异常体征的提前预警。从「被动等待呼救」转向「主动风险识别」，让安全守护走在意外发生之前。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67E2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3175000" cy="3175000"/>
          </a:xfrm>
          <a:prstGeom prst="ellipse">
            <a:avLst/>
          </a:prstGeom>
          <a:solidFill>
            <a:srgbClr val="A67C5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7A4A3A"/>
                </a:solidFill>
                <a:latin typeface="Noto Sans SC"/>
                <a:ea typeface="Noto Sans SC"/>
                <a:cs typeface="Noto Sans SC"/>
                <a:sym typeface="Noto Sans SC"/>
              </a:rPr>
              <a:t>医疗急救卡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9D6B5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关键时刻，一张卡片守护生命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033000" y="698500"/>
            <a:ext cx="1651000" cy="457200"/>
          </a:xfrm>
          <a:prstGeom prst="roundRect">
            <a:avLst>
              <a:gd name="adj" fmla="val 50000"/>
            </a:avLst>
          </a:prstGeom>
          <a:solidFill>
            <a:srgbClr val="E8C4B2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A4A3A"/>
                </a:solidFill>
                <a:latin typeface="Noto Sans SC"/>
                <a:ea typeface="Noto Sans SC"/>
                <a:cs typeface="Noto Sans SC"/>
                <a:sym typeface="Noto Sans SC"/>
              </a:rPr>
              <a:t>⏳ 规划中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159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67C5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23622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68400" y="23622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基础信息聚合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1200" y="2857500"/>
            <a:ext cx="3149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86E6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自动同步姓名、年龄（基于生日计算）、血型及身高体重。打造个人专属生命信息底座，危急时刻一目了然。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2159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67C5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21200" y="23622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78400" y="23622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医疗档案全记录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21200" y="2857500"/>
            <a:ext cx="3149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86E64"/>
                </a:solidFill>
                <a:latin typeface="Noto Sans SC"/>
                <a:ea typeface="Noto Sans SC"/>
                <a:cs typeface="Noto Sans SC"/>
                <a:sym typeface="Noto Sans SC"/>
              </a:rPr>
              <a:t>整合过敏史、近期用药（自动导入服药打卡）、器官捐献意愿及习惯语言。详细备注避免急救信息盲区。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159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67C5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31200" y="23622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88400" y="23622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紧急联络秒触达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31200" y="2857500"/>
            <a:ext cx="3149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86E64"/>
                </a:solidFill>
                <a:latin typeface="Noto Sans SC"/>
                <a:ea typeface="Noto Sans SC"/>
                <a:cs typeface="Noto Sans SC"/>
                <a:sym typeface="Noto Sans SC"/>
              </a:rPr>
              <a:t>预设第一紧急联系人，支持锁屏状态下一键直拨。打破操作壁垒，让救援者能第一时间联系到家属。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4254500"/>
            <a:ext cx="5461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67C5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11200" y="44577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168400" y="44577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锁屏直显 · 急救零延迟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" y="4953000"/>
            <a:ext cx="495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86E64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无需解锁手机即可查看脱敏后的关键急救信息，让医护人员在黄金救援时间内快速掌握患者身体状况，避免因等待解锁而延误治疗。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254500"/>
            <a:ext cx="5461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67C5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26200" y="44577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883400" y="44577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多端导出 · 随身携带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26200" y="4953000"/>
            <a:ext cx="495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86E64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支持一键生成高清急救卡图片，可打印成实体卡片随身携带，或在紧急情况下直接分享给现场医护人员，实现线上线下信息无缝衔接。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" y="6159500"/>
            <a:ext cx="11176000" cy="406400"/>
          </a:xfrm>
          <a:prstGeom prst="roundRect">
            <a:avLst>
              <a:gd name="adj" fmla="val 0"/>
            </a:avLst>
          </a:prstGeom>
          <a:solidFill>
            <a:srgbClr val="E67E2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" y="6159500"/>
            <a:ext cx="1092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A4A3A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上线计划：</a:t>
            </a:r>
            <a:r>
              <a:rPr lang="en-US" b="false" i="false" strike="noStrike" u="none" sz="1300">
                <a:solidFill>
                  <a:srgbClr val="6D4C41"/>
                </a:solidFill>
                <a:latin typeface="Noto Sans SC"/>
                <a:ea typeface="Noto Sans SC"/>
                <a:cs typeface="Noto Sans SC"/>
                <a:sym typeface="Noto Sans SC"/>
              </a:rPr>
              <a:t>全力推进产品开发与测试，争取在初赛后完成首版功能上线，为用户的生命安全增添一份数字化保障。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635000" y="-1016000"/>
            <a:ext cx="3810000" cy="3810000"/>
          </a:xfrm>
          <a:prstGeom prst="ellipse">
            <a:avLst/>
          </a:prstGeom>
          <a:solidFill>
            <a:srgbClr val="FBCFE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0" y="4445000"/>
            <a:ext cx="4445000" cy="4445000"/>
          </a:xfrm>
          <a:prstGeom prst="ellipse">
            <a:avLst/>
          </a:prstGeom>
          <a:solidFill>
            <a:srgbClr val="BFDBFE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性别差异化健康功能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058400" y="7112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⏳ 规划中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13716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男女有别，关怀也要精准 —— 基于生理差异定制专属健康管理方案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2159000"/>
            <a:ext cx="5334000" cy="3683000"/>
          </a:xfrm>
          <a:prstGeom prst="roundRect">
            <a:avLst>
              <a:gd name="adj" fmla="val 0"/>
            </a:avLst>
          </a:prstGeom>
          <a:solidFill>
            <a:srgbClr val="FDF2F8">
              <a:alpha val="80000"/>
            </a:srgbClr>
          </a:solidFill>
          <a:ln w="12700" cmpd="sng" cap="flat">
            <a:solidFill>
              <a:srgbClr val="F9A8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159000"/>
            <a:ext cx="5334000" cy="762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63600" y="24638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20800" y="2438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E185D"/>
                </a:solidFill>
                <a:latin typeface="Noto Sans SC"/>
                <a:ea typeface="Noto Sans SC"/>
                <a:cs typeface="Noto Sans SC"/>
                <a:sym typeface="Noto Sans SC"/>
              </a:rPr>
              <a:t>女性专属 · 细腻呵护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046" flipH="false" flipV="false">
            <a:off x="863608" y="2990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C48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63600" y="317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90600" y="33274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95400" y="330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周期智能管理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26E7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精准预测经期、排卵期，提前预警身体波动，告别突发不适。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67100" y="317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594100" y="33274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3898900" y="330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孕育全期支持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26E7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覆盖备孕、孕期模式，提供叶酸补充、产检提醒及体重管理建议。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3600" y="444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90600" y="45974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295400" y="457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专属数据基准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26E7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基于女性生理结构的独立BMI与体脂率参考标准，拒绝通用数据偏差。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467100" y="444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3594100" y="4597400"/>
            <a:ext cx="254000" cy="25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3898900" y="457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经期分阶建议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26E7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针对经期、卵泡期推送专属饮食与舒缓运动建议，适配身体节律。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48400" y="2159000"/>
            <a:ext cx="5334000" cy="3683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mpd="sng" cap="flat">
            <a:solidFill>
              <a:srgbClr val="93C5FD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48400" y="2159000"/>
            <a:ext cx="5334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502400" y="24638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959600" y="2438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男性专属 · 活力赋能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6502408" y="2990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502400" y="317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29400" y="3327400"/>
            <a:ext cx="254000" cy="254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934200" y="330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力量训练定制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侧重增肌与爆发力的训练计划，根据体能基线动态调整强度。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05900" y="317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232900" y="33274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9537700" y="330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精准代谢测算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结合肌肉量与活动量计算BMR，科学指导热量摄入与饮食结构。</a:t>
            </a:r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02400" y="444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629400" y="4597400"/>
            <a:ext cx="254000" cy="2540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6934200" y="457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中年健康预警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45岁+自动开启前列腺健康提醒，定期推送筛查建议与养护指南。</a:t>
            </a:r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105900" y="4445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9232900" y="4597400"/>
            <a:ext cx="254000" cy="254000"/>
          </a:xfrm>
          <a:prstGeom prst="rect">
            <a:avLst/>
          </a:prstGeom>
        </p:spPr>
      </p:pic>
      <p:sp>
        <p:nvSpPr>
          <p:cNvPr name="AutoShape 40" id="40"/>
          <p:cNvSpPr/>
          <p:nvPr/>
        </p:nvSpPr>
        <p:spPr>
          <a:xfrm rot="0" flipH="false" flipV="false">
            <a:off x="9537700" y="4572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体能成就体系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设置阶段性力量突破目标，解锁专属勋章，强化长期运动动力。</a:t>
            </a:r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032500"/>
            <a:ext cx="10972800" cy="508000"/>
          </a:xfrm>
          <a:prstGeom prst="roundRect">
            <a:avLst>
              <a:gd name="adj" fmla="val 0"/>
            </a:avLst>
          </a:prstGeom>
          <a:solidFill>
            <a:srgbClr val="F5F5F4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09600" y="61214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打破“通用健康”的局限，以更科学的视角关注两性生理差异，让每一次健康管理都更具针对性与实效性。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AF8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E0B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4826000"/>
            <a:ext cx="3175000" cy="3175000"/>
          </a:xfrm>
          <a:prstGeom prst="ellipse">
            <a:avLst/>
          </a:prstGeom>
          <a:solidFill>
            <a:srgbClr val="FFE0B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508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模型商店 · 本地 AI 助手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0" y="6350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FFE0B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⏳ 规划中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12065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把大模型装进口袋，隐私不离设备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16510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D4C41"/>
                </a:solidFill>
                <a:latin typeface="Noto Sans SC"/>
                <a:ea typeface="Noto Sans SC"/>
                <a:cs typeface="Noto Sans SC"/>
                <a:sym typeface="Noto Sans SC"/>
              </a:rPr>
              <a:t>🚀 所有模型通过国内镜像极速下载，无需翻墙，一键部署开箱即用，让强大的AI能力完全在本地运行。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311400"/>
            <a:ext cx="50800" cy="254000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286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01 入门首选 · 轻量高效 (手机/平板可跑)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2667000"/>
            <a:ext cx="3492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6600" y="2768600"/>
            <a:ext cx="330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🇨🇳 DeepSeek-Chat 1.5B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国产轻量之王，专为中文对话优化。体积小巧，响应速度极快，完美适配日常闲聊与快速问答场景。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43400" y="2667000"/>
            <a:ext cx="3492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70400" y="2768600"/>
            <a:ext cx="330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🇨🇳 Qwen2.5 3B (阿里通义)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通义千问最新轻量版，多语言支持强。对低算力设备友好，兼顾理解与生成能力，性价比极高。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77200" y="2667000"/>
            <a:ext cx="3492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04200" y="2768600"/>
            <a:ext cx="330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🇬🇧 Gemma 2B (Google)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谷歌出品的轻量级模型，强调安全性与伦理对齐。生成内容规范，适合需要安全可控的内容创作。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" y="3898900"/>
            <a:ext cx="50800" cy="254000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73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进阶之选 · 深度推理 (PC/高性能设备)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" y="4254500"/>
            <a:ext cx="3492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" y="4356100"/>
            <a:ext cx="330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🇨🇳 DeepSeek-Chat 7B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具备强大的逻辑推理与代码能力。能解决复杂的数学计算、编程调试及多步骤逻辑分析问题。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43400" y="4254500"/>
            <a:ext cx="3492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70400" y="4356100"/>
            <a:ext cx="330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🇨🇳 Qwen2.5 7B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全能型中文基座模型，知识覆盖广。支持长文本处理，在创意写作、知识问答上表现均衡。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077200" y="4254500"/>
            <a:ext cx="3492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04200" y="4356100"/>
            <a:ext cx="330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🇺🇸 Llama 3.1 8B (Meta)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开源界的旗舰模型，微调生态极其丰富。拥有极强的通用性，是进行模型二次开发的理想基座。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" y="5359400"/>
            <a:ext cx="50800" cy="254000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334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03 垂直领域 · 专业特供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5715000"/>
            <a:ext cx="10972800" cy="762000"/>
          </a:xfrm>
          <a:prstGeom prst="roundRect">
            <a:avLst>
              <a:gd name="adj" fmla="val 13333"/>
            </a:avLst>
          </a:prstGeom>
          <a:solidFill>
            <a:srgbClr val="E8F5E9">
              <a:alpha val="40000"/>
            </a:srgbClr>
          </a:solidFill>
          <a:ln w="12700" cmpd="sng" cap="flat">
            <a:solidFill>
              <a:srgbClr val="A5D6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8166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🏥 Meditron 7B (医疗专用) ——</a:t>
            </a:r>
            <a:r>
              <a:rPr lang="en-US" b="false" i="false" strike="noStrike" u="none" sz="1300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基于海量医学文献与专业数据训练，专注于医疗问答、医学文献解读与健康科普。严格遵循医疗信息规范，为您提供可靠的健康知识参考（非诊疗建议）。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BBF24">
              <a:alpha val="10000"/>
            </a:srgbClr>
          </a:solidFill>
          <a:ln cmpd="sng" cap="flat">
            <a:solidFill>
              <a:srgbClr val="E2A50A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EAB308">
              <a:alpha val="10000"/>
            </a:srgbClr>
          </a:solidFill>
          <a:ln cmpd="sng" cap="flat">
            <a:solidFill>
              <a:srgbClr val="D19E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3728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助手：能力进阶与安全承诺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01 / AI 助手能力层级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032000"/>
            <a:ext cx="5842000" cy="812800"/>
          </a:xfrm>
          <a:prstGeom prst="roundRect">
            <a:avLst>
              <a:gd name="adj" fmla="val 0"/>
            </a:avLst>
          </a:prstGeom>
          <a:solidFill>
            <a:srgbClr val="FDE68A">
              <a:alpha val="30000"/>
            </a:srgbClr>
          </a:solidFill>
          <a:ln w="12700" cmpd="sng" cap="flat">
            <a:solidFill>
              <a:srgbClr val="FBBF2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2352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108200"/>
            <a:ext cx="495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51A03"/>
                </a:solidFill>
                <a:latin typeface="Noto Sans SC"/>
                <a:ea typeface="Noto Sans SC"/>
                <a:cs typeface="Noto Sans SC"/>
                <a:sym typeface="Noto Sans SC"/>
              </a:rPr>
              <a:t>L1 智能问答 · 基础响应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853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基于知识库快速检索，即时解答常识、资讯与通用问题，响应精准高效。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2921000"/>
            <a:ext cx="5842000" cy="812800"/>
          </a:xfrm>
          <a:prstGeom prst="roundRect">
            <a:avLst>
              <a:gd name="adj" fmla="val 0"/>
            </a:avLst>
          </a:prstGeom>
          <a:solidFill>
            <a:srgbClr val="FBBF24">
              <a:alpha val="25000"/>
            </a:srgbClr>
          </a:solidFill>
          <a:ln w="12700" cmpd="sng" cap="flat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31242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2997200"/>
            <a:ext cx="495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51A03"/>
                </a:solidFill>
                <a:latin typeface="Noto Sans SC"/>
                <a:ea typeface="Noto Sans SC"/>
                <a:cs typeface="Noto Sans SC"/>
                <a:sym typeface="Noto Sans SC"/>
              </a:rPr>
              <a:t>L2 数据解读 · 趋势洞察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85337"/>
                </a:solidFill>
                <a:latin typeface="Noto Sans SC"/>
                <a:ea typeface="Noto Sans SC"/>
                <a:cs typeface="Noto Sans SC"/>
                <a:sym typeface="Noto Sans SC"/>
              </a:rPr>
              <a:t>解析结构化数据与统计报表，输出可视化的趋势总结，辅助业务决策判断。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3810000"/>
            <a:ext cx="5842000" cy="812800"/>
          </a:xfrm>
          <a:prstGeom prst="roundRect">
            <a:avLst>
              <a:gd name="adj" fmla="val 0"/>
            </a:avLst>
          </a:prstGeom>
          <a:solidFill>
            <a:srgbClr val="F59E0B">
              <a:alpha val="25000"/>
            </a:srgbClr>
          </a:solidFill>
          <a:ln w="12700" cmpd="sng" cap="flat">
            <a:solidFill>
              <a:srgbClr val="D9770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0132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3886200"/>
            <a:ext cx="495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51A03"/>
                </a:solidFill>
                <a:latin typeface="Noto Sans SC"/>
                <a:ea typeface="Noto Sans SC"/>
                <a:cs typeface="Noto Sans SC"/>
                <a:sym typeface="Noto Sans SC"/>
              </a:rPr>
              <a:t>L3 个性化训练 · 专属适配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853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学习用户的表达习惯与偏好，定制化调整回答风格，打造千人千面的体验。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4699000"/>
            <a:ext cx="5842000" cy="812800"/>
          </a:xfrm>
          <a:prstGeom prst="roundRect">
            <a:avLst>
              <a:gd name="adj" fmla="val 0"/>
            </a:avLst>
          </a:prstGeom>
          <a:solidFill>
            <a:srgbClr val="D97706">
              <a:alpha val="25000"/>
            </a:srgbClr>
          </a:solidFill>
          <a:ln w="12700" cmpd="sng" cap="flat">
            <a:solidFill>
              <a:srgbClr val="B45309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98500" y="49022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4775200"/>
            <a:ext cx="495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51A03"/>
                </a:solidFill>
                <a:latin typeface="Noto Sans SC"/>
                <a:ea typeface="Noto Sans SC"/>
                <a:cs typeface="Noto Sans SC"/>
                <a:sym typeface="Noto Sans SC"/>
              </a:rPr>
              <a:t>L4 情绪陪伴 · 共情支持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85337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感知对话中的情绪倾向，提供理解、安慰与正向引导，做有温度的倾听者。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5588000"/>
            <a:ext cx="5842000" cy="812800"/>
          </a:xfrm>
          <a:prstGeom prst="roundRect">
            <a:avLst>
              <a:gd name="adj" fmla="val 0"/>
            </a:avLst>
          </a:prstGeom>
          <a:solidFill>
            <a:srgbClr val="B45309">
              <a:alpha val="25000"/>
            </a:srgbClr>
          </a:solidFill>
          <a:ln w="12700" cmpd="sng" cap="flat">
            <a:solidFill>
              <a:srgbClr val="92400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98500" y="57912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270000" y="5664200"/>
            <a:ext cx="495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51A03"/>
                </a:solidFill>
                <a:latin typeface="Noto Sans SC"/>
                <a:ea typeface="Noto Sans SC"/>
                <a:cs typeface="Noto Sans SC"/>
                <a:sym typeface="Noto Sans SC"/>
              </a:rPr>
              <a:t>L5 周报总结 · 自动复盘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853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自动归集沟通记录与任务进度，生成结构化的工作周报，释放整理精力。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58000" y="127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02 / 安全边界与承诺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858000" y="2032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EE2E2">
              <a:alpha val="5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7048500" y="22225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493000" y="2133600"/>
            <a:ext cx="4127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🚫 不提供医疗诊断建议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无执业医师资格，不提供诊断、处方或治疗方案。健康问题请务必咨询专业医生，切勿仅凭AI建议自行判断。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858000" y="36195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EE2E2">
              <a:alpha val="5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7048500" y="38100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493000" y="3721100"/>
            <a:ext cx="4127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🚫 不替代专业心理治疗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无法替代持证心理咨询师或精神科医生的专业干预。若遇严重情绪困扰，请及时联系心理援助热线或专业机构。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858000" y="5207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D1FAE5">
              <a:alpha val="5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7048500" y="5397500"/>
            <a:ext cx="355600" cy="355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493000" y="5308600"/>
            <a:ext cx="4127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✅ 数据全链路本地处理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核心交互与数据计算均在设备端本地完成，拒绝云端上传，从技术底层构建隐私防线，确保个人信息绝对安全。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EAB30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D4C4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 / 产品路线图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143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一步一脚印，稳步前行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032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从初赛核心功能出发，我们规划了清晰的三阶段演进路径。每个阶段都有明确的目标和可交付成果，以稳扎稳打的节奏推动产品从基础验证走向生态繁荣，持续为用户创造核心价值。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048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EFE8DC">
              <a:alpha val="60000"/>
            </a:srgbClr>
          </a:solidFill>
          <a:ln w="12700" cmpd="sng" cap="flat">
            <a:solidFill>
              <a:srgbClr val="A1887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3238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3238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01 初赛核心阶段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3746500"/>
            <a:ext cx="317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55F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完成核心业务闭环，实现MVP全功能上线；完成首轮用户测试与反馈迭代，夯实高可用基础架构，确保系统稳定可靠。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47625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状态：已全面完成验收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3048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EFE8DC">
              <a:alpha val="60000"/>
            </a:srgbClr>
          </a:solidFill>
          <a:ln w="12700" cmpd="sng" cap="flat">
            <a:solidFill>
              <a:srgbClr val="A1887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08500" y="3238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953000" y="3238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进阶优化阶段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08500" y="3746500"/>
            <a:ext cx="317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55F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针对高频场景进行性能深度调优，拓展3-5个垂直细分场景；引入智能推荐引擎与用户分层运营，显著提升用户活跃度与留存率。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08500" y="47625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⏳ 状态：Q4 启动研发与内测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048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EFE8DC">
              <a:alpha val="60000"/>
            </a:srgbClr>
          </a:solidFill>
          <a:ln w="12700" cmpd="sng" cap="flat">
            <a:solidFill>
              <a:srgbClr val="A1887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3238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3238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03 生态构建阶段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3746500"/>
            <a:ext cx="317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55F55"/>
                </a:solidFill>
                <a:latin typeface="Noto Sans SC"/>
                <a:ea typeface="Noto Sans SC"/>
                <a:cs typeface="Noto Sans SC"/>
                <a:sym typeface="Noto Sans SC"/>
              </a:rPr>
              <a:t>开放API平台，构建开发者与合作伙伴生态；实现多端数据互通与业务协同，打造行业级解决方案标杆，形成产品的长期竞争壁垒。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18500" y="47625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🌟 状态：长期战略规划中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" y="55245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" y="5524500"/>
            <a:ext cx="1016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" y="5626100"/>
            <a:ext cx="1054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🚀 关键里程碑：初赛核心功能模块已实现100%开发与验收，功能覆盖率与稳定性均达到预期标准，为产品后续的快速迭代、市场推广及商业化落地筑牢了坚实的技术与功能基础。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7CCC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D7CCC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06 / 产品深度文档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778000"/>
            <a:ext cx="10972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不只是功能，更是体验设计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3048000"/>
            <a:ext cx="10972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从用户旅程的起点到终点，从无障碍访问的包容性设计，到系统异常时的优雅降级——每一个看似微小的产品细节，都经过了反复推敲与深度打磨，只为构建流畅、可靠且富有温度的数字体验。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457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FEBE9">
              <a:alpha val="60000"/>
            </a:srgbClr>
          </a:solidFill>
          <a:ln w="12700" cmpd="sng" cap="flat">
            <a:solidFill>
              <a:srgbClr val="BCAAA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63600" y="48006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20800" y="48006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全链路体验闭环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636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梳理完整用户旅程地图，覆盖从触达到留存的关键触点，消除断点，打造连贯的操作流。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457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FEBE9">
              <a:alpha val="60000"/>
            </a:srgbClr>
          </a:solidFill>
          <a:ln w="12700" cmpd="sng" cap="flat">
            <a:solidFill>
              <a:srgbClr val="BCAAA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48006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092700" y="48006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包容性可访问性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遵循WCAG标准，兼顾视觉、操作等不同维度的需求，让产品服务于更广泛的用户群体。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53400" y="457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FEBE9">
              <a:alpha val="60000"/>
            </a:srgbClr>
          </a:solidFill>
          <a:ln w="12700" cmpd="sng" cap="flat">
            <a:solidFill>
              <a:srgbClr val="BCAAA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07400" y="48006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64600" y="48006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稳健的容错设计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074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预设异常场景的降级策略与友好的错误提示，在保障系统稳定性的同时维持用户信心。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E6D7BE">
              <a:alpha val="30000"/>
            </a:srgbClr>
          </a:solidFill>
          <a:ln cmpd="sng" cap="flat">
            <a:solidFill>
              <a:srgbClr val="CDB79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652000" y="4318000"/>
            <a:ext cx="5080000" cy="5080000"/>
          </a:xfrm>
          <a:prstGeom prst="ellipse">
            <a:avLst/>
          </a:prstGeom>
          <a:solidFill>
            <a:srgbClr val="E6D7BE">
              <a:alpha val="30000"/>
            </a:srgbClr>
          </a:solidFill>
          <a:ln cmpd="sng" cap="flat">
            <a:solidFill>
              <a:srgbClr val="CDB79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362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用户旅程地图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539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A2B"/>
                </a:solidFill>
                <a:latin typeface="Noto Sans SC"/>
                <a:ea typeface="Noto Sans SC"/>
                <a:cs typeface="Noto Sans SC"/>
                <a:sym typeface="Noto Sans SC"/>
              </a:rPr>
              <a:t>👦 年轻用户：个性化健身养成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2E9D8">
              <a:alpha val="80000"/>
            </a:srgbClr>
          </a:solidFill>
          <a:ln w="12700" cmpd="sng" cap="flat">
            <a:solidFill>
              <a:srgbClr val="D2B4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60400" y="2438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438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54321"/>
                </a:solidFill>
                <a:latin typeface="Noto Sans SC"/>
                <a:ea typeface="Noto Sans SC"/>
                <a:cs typeface="Noto Sans SC"/>
                <a:sym typeface="Noto Sans SC"/>
              </a:rPr>
              <a:t>01 启动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" y="2857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打开健身App，秒级加载启动页，展现活力氛围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349500" y="2286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2E9D8">
              <a:alpha val="80000"/>
            </a:srgbClr>
          </a:solidFill>
          <a:ln w="12700" cmpd="sng" cap="flat">
            <a:solidFill>
              <a:srgbClr val="D2B4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501900" y="2438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857500" y="2438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54321"/>
                </a:solidFill>
                <a:latin typeface="Noto Sans SC"/>
                <a:ea typeface="Noto Sans SC"/>
                <a:cs typeface="Noto Sans SC"/>
                <a:sym typeface="Noto Sans SC"/>
              </a:rPr>
              <a:t>02 浏览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501900" y="2857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进入专属健身专区，浏览热门课程与达人动态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91000" y="2286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2E9D8">
              <a:alpha val="80000"/>
            </a:srgbClr>
          </a:solidFill>
          <a:ln w="12700" cmpd="sng" cap="flat">
            <a:solidFill>
              <a:srgbClr val="D2B4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43400" y="24384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699000" y="2438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54321"/>
                </a:solidFill>
                <a:latin typeface="Noto Sans SC"/>
                <a:ea typeface="Noto Sans SC"/>
                <a:cs typeface="Noto Sans SC"/>
                <a:sym typeface="Noto Sans SC"/>
              </a:rPr>
              <a:t>03 定制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43400" y="2857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根据体能水平，AI智能推荐或自选专项训练计划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3937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2E9D8">
              <a:alpha val="80000"/>
            </a:srgbClr>
          </a:solidFill>
          <a:ln w="12700" cmpd="sng" cap="flat">
            <a:solidFill>
              <a:srgbClr val="D2B4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" y="40894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16000" y="4089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54321"/>
                </a:solidFill>
                <a:latin typeface="Noto Sans SC"/>
                <a:ea typeface="Noto Sans SC"/>
                <a:cs typeface="Noto Sans SC"/>
                <a:sym typeface="Noto Sans SC"/>
              </a:rPr>
              <a:t>04 执行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" y="4508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跟随视频完成训练，实时记录时长、消耗与组数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349500" y="3937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2E9D8">
              <a:alpha val="80000"/>
            </a:srgbClr>
          </a:solidFill>
          <a:ln w="12700" cmpd="sng" cap="flat">
            <a:solidFill>
              <a:srgbClr val="D2B4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2501900" y="40894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2857500" y="4089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54321"/>
                </a:solidFill>
                <a:latin typeface="Noto Sans SC"/>
                <a:ea typeface="Noto Sans SC"/>
                <a:cs typeface="Noto Sans SC"/>
                <a:sym typeface="Noto Sans SC"/>
              </a:rPr>
              <a:t>05 激励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501900" y="4508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解锁“坚持勋章”，展示专属成就标语，增强满足感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191000" y="3937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2E9D8">
              <a:alpha val="80000"/>
            </a:srgbClr>
          </a:solidFill>
          <a:ln w="12700" cmpd="sng" cap="flat">
            <a:solidFill>
              <a:srgbClr val="D2B48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343400" y="40894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4699000" y="4089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54321"/>
                </a:solidFill>
                <a:latin typeface="Noto Sans SC"/>
                <a:ea typeface="Noto Sans SC"/>
                <a:cs typeface="Noto Sans SC"/>
                <a:sym typeface="Noto Sans SC"/>
              </a:rPr>
              <a:t>06 复盘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343400" y="4508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查看周/月运动数据趋势，直观感受体能提升变化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8000" y="5588000"/>
            <a:ext cx="5397500" cy="762000"/>
          </a:xfrm>
          <a:prstGeom prst="roundRect">
            <a:avLst>
              <a:gd name="adj" fmla="val 0"/>
            </a:avLst>
          </a:prstGeom>
          <a:solidFill>
            <a:srgbClr val="D2B48C">
              <a:alpha val="15000"/>
            </a:srgbClr>
          </a:solidFill>
          <a:ln cmpd="sng" cap="flat">
            <a:solidFill>
              <a:srgbClr val="B89669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" y="5689600"/>
            <a:ext cx="5143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8B5A2B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核心价值：</a:t>
            </a:r>
            <a:r>
              <a:rPr lang="en-US" b="false" i="false" strike="noStrike" u="none" sz="13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通过游戏化的勋章机制和可视化的数据反馈，打造正向激励闭环，让运动习惯更容易坚持。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86500" y="1524000"/>
            <a:ext cx="539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A2B"/>
                </a:solidFill>
                <a:latin typeface="Noto Sans SC"/>
                <a:ea typeface="Noto Sans SC"/>
                <a:cs typeface="Noto Sans SC"/>
                <a:sym typeface="Noto Sans SC"/>
              </a:rPr>
              <a:t>👴 长辈用户：健康守护与亲情联动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86500" y="2286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EBF2EE">
              <a:alpha val="80000"/>
            </a:srgbClr>
          </a:solidFill>
          <a:ln w="12700" cmpd="sng" cap="flat">
            <a:solidFill>
              <a:srgbClr val="A8C4A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38900" y="2438400"/>
            <a:ext cx="304800" cy="3048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6794500" y="2438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5841"/>
                </a:solidFill>
                <a:latin typeface="Noto Sans SC"/>
                <a:ea typeface="Noto Sans SC"/>
                <a:cs typeface="Noto Sans SC"/>
                <a:sym typeface="Noto Sans SC"/>
              </a:rPr>
              <a:t>01 极简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38900" y="2857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4E3D"/>
                </a:solidFill>
                <a:latin typeface="Noto Sans SC"/>
                <a:ea typeface="Noto Sans SC"/>
                <a:cs typeface="Noto Sans SC"/>
                <a:sym typeface="Noto Sans SC"/>
              </a:rPr>
              <a:t>开启长辈模式，大字体、大图标，去除冗余广告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064500" y="2286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EBF2EE">
              <a:alpha val="80000"/>
            </a:srgbClr>
          </a:solidFill>
          <a:ln w="12700" cmpd="sng" cap="flat">
            <a:solidFill>
              <a:srgbClr val="A8C4A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216900" y="2438400"/>
            <a:ext cx="304800" cy="3048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8572500" y="2438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5841"/>
                </a:solidFill>
                <a:latin typeface="Noto Sans SC"/>
                <a:ea typeface="Noto Sans SC"/>
                <a:cs typeface="Noto Sans SC"/>
                <a:sym typeface="Noto Sans SC"/>
              </a:rPr>
              <a:t>02 聚焦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216900" y="2857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4E3D"/>
                </a:solidFill>
                <a:latin typeface="Noto Sans SC"/>
                <a:ea typeface="Noto Sans SC"/>
                <a:cs typeface="Noto Sans SC"/>
                <a:sym typeface="Noto Sans SC"/>
              </a:rPr>
              <a:t>直达健康守护中心，血压、血糖、用药提醒一目了然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842500" y="2286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EBF2EE">
              <a:alpha val="80000"/>
            </a:srgbClr>
          </a:solidFill>
          <a:ln w="12700" cmpd="sng" cap="flat">
            <a:solidFill>
              <a:srgbClr val="A8C4A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9994900" y="2438400"/>
            <a:ext cx="304800" cy="304800"/>
          </a:xfrm>
          <a:prstGeom prst="rect">
            <a:avLst/>
          </a:prstGeom>
        </p:spPr>
      </p:pic>
      <p:sp>
        <p:nvSpPr>
          <p:cNvPr name="AutoShape 43" id="43"/>
          <p:cNvSpPr/>
          <p:nvPr/>
        </p:nvSpPr>
        <p:spPr>
          <a:xfrm rot="0" flipH="false" flipV="false">
            <a:off x="10350500" y="2438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5841"/>
                </a:solidFill>
                <a:latin typeface="Noto Sans SC"/>
                <a:ea typeface="Noto Sans SC"/>
                <a:cs typeface="Noto Sans SC"/>
                <a:sym typeface="Noto Sans SC"/>
              </a:rPr>
              <a:t>03 录入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994900" y="28575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4E3D"/>
                </a:solidFill>
                <a:latin typeface="Noto Sans SC"/>
                <a:ea typeface="Noto Sans SC"/>
                <a:cs typeface="Noto Sans SC"/>
                <a:sym typeface="Noto Sans SC"/>
              </a:rPr>
              <a:t>语音或一键录入测量数据，操作简单零门槛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286500" y="3937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DEBEC">
              <a:alpha val="60000"/>
            </a:srgbClr>
          </a:solidFill>
          <a:ln w="12700" cmpd="sng" cap="flat">
            <a:solidFill>
              <a:srgbClr val="D8828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438900" y="4089400"/>
            <a:ext cx="304800" cy="304800"/>
          </a:xfrm>
          <a:prstGeom prst="rect">
            <a:avLst/>
          </a:prstGeom>
        </p:spPr>
      </p:pic>
      <p:sp>
        <p:nvSpPr>
          <p:cNvPr name="AutoShape 47" id="47"/>
          <p:cNvSpPr/>
          <p:nvPr/>
        </p:nvSpPr>
        <p:spPr>
          <a:xfrm rot="0" flipH="false" flipV="false">
            <a:off x="6794500" y="40894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A52A2A"/>
                </a:solidFill>
                <a:latin typeface="Noto Sans SC"/>
                <a:ea typeface="Noto Sans SC"/>
                <a:cs typeface="Noto Sans SC"/>
                <a:sym typeface="Noto Sans SC"/>
              </a:rPr>
              <a:t>04 智能预警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438900" y="45085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483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数据异常时自动标红并弹窗提醒，同步推送预警信息至子女端，及时规避风险。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8953500" y="3937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EBF2EE">
              <a:alpha val="80000"/>
            </a:srgbClr>
          </a:solidFill>
          <a:ln w="12700" cmpd="sng" cap="flat">
            <a:solidFill>
              <a:srgbClr val="A8C4A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9105900" y="4089400"/>
            <a:ext cx="304800" cy="304800"/>
          </a:xfrm>
          <a:prstGeom prst="rect">
            <a:avLst/>
          </a:prstGeom>
        </p:spPr>
      </p:pic>
      <p:sp>
        <p:nvSpPr>
          <p:cNvPr name="AutoShape 51" id="51"/>
          <p:cNvSpPr/>
          <p:nvPr/>
        </p:nvSpPr>
        <p:spPr>
          <a:xfrm rot="0" flipH="false" flipV="false">
            <a:off x="9461500" y="40894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E5841"/>
                </a:solidFill>
                <a:latin typeface="Noto Sans SC"/>
                <a:ea typeface="Noto Sans SC"/>
                <a:cs typeface="Noto Sans SC"/>
                <a:sym typeface="Noto Sans SC"/>
              </a:rPr>
              <a:t>05 亲情互通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9105900" y="45085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4E3D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健康数据实时同步至子女账号，即使异地也能随时查看父母身体状况，安心陪伴。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6286500" y="5588000"/>
            <a:ext cx="5397500" cy="762000"/>
          </a:xfrm>
          <a:prstGeom prst="roundRect">
            <a:avLst>
              <a:gd name="adj" fmla="val 0"/>
            </a:avLst>
          </a:prstGeom>
          <a:solidFill>
            <a:srgbClr val="A8C4AF">
              <a:alpha val="15000"/>
            </a:srgbClr>
          </a:solidFill>
          <a:ln cmpd="sng" cap="flat">
            <a:solidFill>
              <a:srgbClr val="81AB8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6413500" y="5689600"/>
            <a:ext cx="5143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E584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核心价值：</a:t>
            </a:r>
            <a:r>
              <a:rPr lang="en-US" b="false" i="false" strike="noStrike" u="none" sz="1300">
                <a:solidFill>
                  <a:srgbClr val="3C4E3D"/>
                </a:solidFill>
                <a:latin typeface="Noto Sans SC"/>
                <a:ea typeface="Noto Sans SC"/>
                <a:cs typeface="Noto Sans SC"/>
                <a:sym typeface="Noto Sans SC"/>
              </a:rPr>
              <a:t>适老化设计降低操作门槛，打破“数字鸿沟”；亲情数据互通构建家庭健康防护网，让关怀无距离。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414000" y="-762000"/>
            <a:ext cx="2794000" cy="2794000"/>
          </a:xfrm>
          <a:prstGeom prst="ellipse">
            <a:avLst/>
          </a:prstGeom>
          <a:solidFill>
            <a:srgbClr val="C4A88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762000" y="5207000"/>
            <a:ext cx="2286000" cy="2286000"/>
          </a:xfrm>
          <a:prstGeom prst="ellipse">
            <a:avLst/>
          </a:prstGeom>
          <a:solidFill>
            <a:srgbClr val="C4A88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508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23832"/>
                </a:solidFill>
                <a:latin typeface="Noto Sans SC"/>
                <a:ea typeface="Noto Sans SC"/>
                <a:cs typeface="Noto Sans SC"/>
                <a:sym typeface="Noto Sans SC"/>
              </a:rPr>
              <a:t>可访问性自查清单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04000" y="660400"/>
            <a:ext cx="1524000" cy="406400"/>
          </a:xfrm>
          <a:prstGeom prst="roundRect">
            <a:avLst>
              <a:gd name="adj" fmla="val 0"/>
            </a:avLst>
          </a:prstGeom>
          <a:solidFill>
            <a:srgbClr val="B48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4000" y="6604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WCAG 2.1 标准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1651000"/>
            <a:ext cx="3454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B48A5A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18542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19200" y="18288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493C"/>
                </a:solidFill>
                <a:latin typeface="Noto Sans SC"/>
                <a:ea typeface="Noto Sans SC"/>
                <a:cs typeface="Noto Sans SC"/>
                <a:sym typeface="Noto Sans SC"/>
              </a:rPr>
              <a:t>字体缩放适配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" y="2336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75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0.8×~1.8× 全局缩放，适配近视或老花人群。缩放后页面元素不重叠、不溢出，保持布局结构稳定可用。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68800" y="1651000"/>
            <a:ext cx="3454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B48A5A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572000" y="18542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78400" y="18288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493C"/>
                </a:solidFill>
                <a:latin typeface="Noto Sans SC"/>
                <a:ea typeface="Noto Sans SC"/>
                <a:cs typeface="Noto Sans SC"/>
                <a:sym typeface="Noto Sans SC"/>
              </a:rPr>
              <a:t>色盲模式支持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2336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75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提供红绿色盲、蓝黄色盲等多模式切换，避免仅依赖颜色传递信息，确保色觉障碍用户能准确识别内容。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454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B48A5A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331200" y="18542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37600" y="18288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493C"/>
                </a:solidFill>
                <a:latin typeface="Noto Sans SC"/>
                <a:ea typeface="Noto Sans SC"/>
                <a:cs typeface="Noto Sans SC"/>
                <a:sym typeface="Noto Sans SC"/>
              </a:rPr>
              <a:t>键盘焦点导航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31200" y="2336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75B"/>
                </a:solidFill>
                <a:latin typeface="Noto Sans SC"/>
                <a:ea typeface="Noto Sans SC"/>
                <a:cs typeface="Noto Sans SC"/>
                <a:sym typeface="Noto Sans SC"/>
              </a:rPr>
              <a:t>Tab 键导航顺序与视觉流向一致，焦点状态有明显高亮样式，支持纯键盘完成登录、支付等所有核心操作。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" y="3937000"/>
            <a:ext cx="3454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B48A5A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41402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19200" y="41148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493C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语义化无障碍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" y="4622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75B"/>
                </a:solidFill>
                <a:latin typeface="Noto Sans SC"/>
                <a:ea typeface="Noto Sans SC"/>
                <a:cs typeface="Noto Sans SC"/>
                <a:sym typeface="Noto Sans SC"/>
              </a:rPr>
              <a:t>图标与图片添加准确的 alt 描述，动态内容支持朗读，完美兼容 TalkBack、VoiceOver 等主流读屏软件。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68800" y="3937000"/>
            <a:ext cx="3454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B48A5A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572000" y="41402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4978400" y="41148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493C"/>
                </a:solidFill>
                <a:latin typeface="Noto Sans SC"/>
                <a:ea typeface="Noto Sans SC"/>
                <a:cs typeface="Noto Sans SC"/>
                <a:sym typeface="Noto Sans SC"/>
              </a:rPr>
              <a:t>高对比度标准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72000" y="4622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75B"/>
                </a:solidFill>
                <a:latin typeface="Noto Sans SC"/>
                <a:ea typeface="Noto Sans SC"/>
                <a:cs typeface="Noto Sans SC"/>
                <a:sym typeface="Noto Sans SC"/>
              </a:rPr>
              <a:t>正文对比度≥4.5:1，标题≥3:1，符合 WCAG AA 级标准。提供高对比度模式，保障弱光环境下的清晰阅读。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28000" y="3937000"/>
            <a:ext cx="3454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B48A5A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331200" y="41402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737600" y="41148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493C"/>
                </a:solidFill>
                <a:latin typeface="Noto Sans SC"/>
                <a:ea typeface="Noto Sans SC"/>
                <a:cs typeface="Noto Sans SC"/>
                <a:sym typeface="Noto Sans SC"/>
              </a:rPr>
              <a:t>友好触控区域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331200" y="4622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75B"/>
                </a:solidFill>
                <a:latin typeface="Noto Sans SC"/>
                <a:ea typeface="Noto Sans SC"/>
                <a:cs typeface="Noto Sans SC"/>
                <a:sym typeface="Noto Sans SC"/>
              </a:rPr>
              <a:t>可点击元素最小热区为 44dp，长辈模式下提升至 56dp。按钮间距适中，有效减少手抖或误触的情况。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09600" y="60960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2704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秉持“通用设计”理念，消除数字鸿沟，让产品服务于每一位用户。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7D9C3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E7D9C3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5362B"/>
                </a:solidFill>
                <a:latin typeface="Noto Sans SC"/>
                <a:ea typeface="Noto Sans SC"/>
                <a:cs typeface="Noto Sans SC"/>
                <a:sym typeface="Noto Sans SC"/>
              </a:rPr>
              <a:t>错误边界与降级策略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5242"/>
                </a:solidFill>
                <a:latin typeface="Noto Sans SC"/>
                <a:ea typeface="Noto Sans SC"/>
                <a:cs typeface="Noto Sans SC"/>
                <a:sym typeface="Noto Sans SC"/>
              </a:rPr>
              <a:t>错误边界是系统的“安全气囊”，降级策略是体验的“缓冲带”。通过预设的异常处理机制，将不可控的技术故障转化为可预期的用户体验，避免应用崩溃或白屏，保障产品的健壮性与可用性。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08000" y="2286000"/>
          <a:ext cx="11176000" cy="2819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7366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4536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异常场景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CCB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4536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 与体验降级方案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CCBC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Hive 初始化失败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4DA">
                        <a:alpha val="4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展示“服务启动中”友好占位图，提供醒目重试按钮，支持后台自动检测并静默恢复。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4DA">
                        <a:alpha val="4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文件导入格式错误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弹窗提示具体原因（如“仅支持CSV/Excel”），附带格式说明与示例下载，引导用户正确操作。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通知权限被拒绝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4DA">
                        <a:alpha val="4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放弃强制弹窗打扰，降级为页面内顶部轻量 Toast 提醒，确保核心业务流程不被阻断。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4DA">
                        <a:alpha val="4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设备传感器不可用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自动隐藏依赖该硬件的功能入口，界面保持整洁；若为非核心功能，保留入口但提示“设备不支持”。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主题资源加载失败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4DA">
                        <a:alpha val="4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3C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触发兜底机制，自动回退至系统默认主题样式，确保界面色彩与布局正常渲染，不影响操作。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4DA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508000" y="5778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A67C52">
              <a:alpha val="10000"/>
            </a:srgbClr>
          </a:solidFill>
          <a:ln w="12700" cmpd="sng" cap="flat">
            <a:solidFill>
              <a:srgbClr val="A67C5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59817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57785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67C5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核心设计原则：</a:t>
            </a:r>
            <a:r>
              <a:rPr lang="en-US" b="false" i="false" strike="noStrike" u="none" sz="1400">
                <a:solidFill>
                  <a:srgbClr val="5A4637"/>
                </a:solidFill>
                <a:latin typeface="Noto Sans SC"/>
                <a:ea typeface="Noto Sans SC"/>
                <a:cs typeface="Noto Sans SC"/>
                <a:sym typeface="Noto Sans SC"/>
              </a:rPr>
              <a:t>始终遵循“用户无感知优先、核心功能可用、信息透明化”。降级不是简单的报错，而是将技术异常转化为用户可理解、可操作的体验，这是构建高可用产品的基石。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6A76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4826000"/>
            <a:ext cx="3175000" cy="3175000"/>
          </a:xfrm>
          <a:prstGeom prst="ellipse">
            <a:avLst/>
          </a:prstGeom>
          <a:solidFill>
            <a:srgbClr val="A68D6D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7355"/>
                </a:solidFill>
                <a:latin typeface="Noto Sans SC"/>
                <a:ea typeface="Noto Sans SC"/>
                <a:cs typeface="Noto Sans SC"/>
                <a:sym typeface="Noto Sans SC"/>
              </a:rPr>
              <a:t>07 / 技术亮点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397000"/>
            <a:ext cx="10972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A302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技术选型，为体验服务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667000"/>
            <a:ext cx="10972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5B4B"/>
                </a:solidFill>
                <a:latin typeface="Noto Sans SC"/>
                <a:ea typeface="Noto Sans SC"/>
                <a:cs typeface="Noto Sans SC"/>
                <a:sym typeface="Noto Sans SC"/>
              </a:rPr>
              <a:t>每一项技术选择都有明确的理由——不是为了炫技，而是为了让产品更好用、更可靠、更温暖。我们坚持技术服务于体验，让代码成为连接用户与价值的隐形桥梁，让技术的理性光辉赋予产品感性的温度。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4064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0D6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63600" y="42926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4292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A765"/>
                </a:solidFill>
                <a:latin typeface="Noto Sans SC"/>
                <a:ea typeface="Noto Sans SC"/>
                <a:cs typeface="Noto Sans SC"/>
                <a:sym typeface="Noto Sans SC"/>
              </a:rPr>
              <a:t>易用性优先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63600" y="4826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A5C"/>
                </a:solidFill>
                <a:latin typeface="Noto Sans SC"/>
                <a:ea typeface="Noto Sans SC"/>
                <a:cs typeface="Noto Sans SC"/>
                <a:sym typeface="Noto Sans SC"/>
              </a:rPr>
              <a:t>摒弃过度设计，采用轻量化架构，让技术隐于交互细节。操作流畅无负担，让用户专注于创造而非适应工具，实现真正的“无感”技术体验。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4064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0D6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42926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68900" y="4292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CB978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稳定性基石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4826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A5C"/>
                </a:solidFill>
                <a:latin typeface="Noto Sans SC"/>
                <a:ea typeface="Noto Sans SC"/>
                <a:cs typeface="Noto Sans SC"/>
                <a:sym typeface="Noto Sans SC"/>
              </a:rPr>
              <a:t>多层级容灾与高并发处理能力，经过严苛的压力测试验证。确保服务在高负载下依然稳健，数据实时同步且安全无虞，为用户提供值得信赖的支撑。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53400" y="4064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0D6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07400" y="42926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940800" y="4292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8888"/>
                </a:solidFill>
                <a:latin typeface="Noto Sans SC"/>
                <a:ea typeface="Noto Sans SC"/>
                <a:cs typeface="Noto Sans SC"/>
                <a:sym typeface="Noto Sans SC"/>
              </a:rPr>
              <a:t>有温度的连接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07400" y="4826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66A5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技术不仅是代码的堆砌，更是传递关怀的载体。通过智能算法优化响应速度，让每一次交互都充满人性化的理解与即时反馈，构建有温度的数字连接。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E6D7BE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E6D7BE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核心技术优势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165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Flutter 跨端融合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762013" y="215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D7B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228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一套代码无缝覆盖 iOS、Android、Web 及桌面端，开发效率提升 60% 以上，确保多端视觉与交互体验高度一致。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39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1651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80000" y="165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Hive 极致本地存储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572013" y="215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D7B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228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纯 Dart 编写的轻量级 NoSQL 数据库，零原生依赖，实现毫秒级读写速度，彻底告别云端延迟与同步压力。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39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651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90000" y="165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动态视觉自适应系统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323" flipH="false" flipV="false">
            <a:off x="8382013" y="215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D7B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382000" y="228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内置灵活的动态调色盘与渐变色引擎，支持三套主题一键无感切换，所有 UI 元素随主题实时响应式适配。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393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41910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270000" y="419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WCAG 无障碍全兼容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7620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D7B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62000" y="482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 WCAG 2.1 国际标准，完美支持屏幕朗读、动态字体缩放与色盲模式，让数字服务触达每一位用户。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18000" y="393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572000" y="41910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5080000" y="419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零后端 · 隐私至上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323" flipH="false" flipV="false">
            <a:off x="45720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D7B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4572000" y="482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完全离线运行，无需账户注册与网络连接，所有敏感数据仅留存本地设备，隐私安全绝对可控。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28000" y="3937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7C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191000"/>
            <a:ext cx="355600" cy="3556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890000" y="419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E2723"/>
                </a:solidFill>
                <a:latin typeface="Noto Sans SC"/>
                <a:ea typeface="Noto Sans SC"/>
                <a:cs typeface="Noto Sans SC"/>
                <a:sym typeface="Noto Sans SC"/>
              </a:rPr>
              <a:t>端侧 AI 离线推理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4323" flipH="false" flipV="false">
            <a:off x="83820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D7B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382000" y="482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内置轻量级 AI 模型商店，所有计算在本地完成，数据不出设备，享受毫秒级的智能交互体验。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016000" y="-1016000"/>
            <a:ext cx="4064000" cy="4064000"/>
          </a:xfrm>
          <a:prstGeom prst="ellipse">
            <a:avLst/>
          </a:prstGeom>
          <a:solidFill>
            <a:srgbClr val="F4A2A2">
              <a:alpha val="12000"/>
            </a:srgbClr>
          </a:solidFill>
          <a:ln cmpd="sng" cap="flat">
            <a:solidFill>
              <a:srgbClr val="DB7B7B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144000" y="4064000"/>
            <a:ext cx="5080000" cy="5080000"/>
          </a:xfrm>
          <a:prstGeom prst="ellipse">
            <a:avLst/>
          </a:prstGeom>
          <a:solidFill>
            <a:srgbClr val="FFCC80">
              <a:alpha val="12000"/>
            </a:srgbClr>
          </a:solidFill>
          <a:ln cmpd="sng" cap="flat">
            <a:solidFill>
              <a:srgbClr val="E6AE5C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508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家檐安记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2032000"/>
            <a:ext cx="1092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93D3B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健康管理，本可以更温柔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302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 spc="2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让自律有陪伴，让牵挂有回音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3556008" y="4184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D6E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4572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8D6E63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476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4762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3B"/>
                </a:solidFill>
                <a:latin typeface="Noto Sans SC"/>
                <a:ea typeface="Noto Sans SC"/>
                <a:cs typeface="Noto Sans SC"/>
                <a:sym typeface="Noto Sans SC"/>
              </a:rPr>
              <a:t>iOS 客户端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207000"/>
            <a:ext cx="222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原生适配 iPhone/iPad，极致流畅体验，健康数据实时云端同步。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67100" y="4572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8D6E63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57600" y="476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038600" y="4762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3B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57600" y="5207000"/>
            <a:ext cx="222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覆盖主流安卓机型，低功耗设计，贴心健康提醒时刻守护。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72200" y="4572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8D6E63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62700" y="4762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43700" y="4762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3B"/>
                </a:solidFill>
                <a:latin typeface="Noto Sans SC"/>
                <a:ea typeface="Noto Sans SC"/>
                <a:cs typeface="Noto Sans SC"/>
                <a:sym typeface="Noto Sans SC"/>
              </a:rPr>
              <a:t>Web 网页端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62700" y="5207000"/>
            <a:ext cx="222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无需下载，打开即用，多设备无缝切换，随时查看健康档案。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77300" y="4572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8D6E63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67800" y="4762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448800" y="4762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93D3B"/>
                </a:solidFill>
                <a:latin typeface="Noto Sans SC"/>
                <a:ea typeface="Noto Sans SC"/>
                <a:cs typeface="Noto Sans SC"/>
                <a:sym typeface="Noto Sans SC"/>
              </a:rPr>
              <a:t>桌面客户端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67800" y="5207000"/>
            <a:ext cx="222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D6E63"/>
                </a:solidFill>
                <a:latin typeface="Noto Sans SC"/>
                <a:ea typeface="Noto Sans SC"/>
                <a:cs typeface="Noto Sans SC"/>
                <a:sym typeface="Noto Sans SC"/>
              </a:rPr>
              <a:t>大屏可视化健康分析，智能生成周报，提供专业健康建议。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286500"/>
            <a:ext cx="1219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D6E63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© 2026 家檐安记 | 用科技温暖每一次心跳，让健康管理充满温度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{"Label":"1","ContentProducer":"001191110102MACQD9K64010000","ProduceID":"7653001333025409984","ReservedCode1":"","ContentPropagator":"","PropagateID":"","ReservedCode2":""}</vt:lpwstr>
  </property>
</Properties>
</file>